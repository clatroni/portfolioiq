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14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1440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6BC25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91840"/>
            <a:ext cx="1554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Aptos"/>
              </a:rPr>
              <a:t>Project Portfolio</a:t>
            </a:r>
            <a:r>
              <a:rPr sz="60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>
                <a:solidFill>
                  <a:srgbClr val="86BC25"/>
                </a:solidFill>
                <a:latin typeface="Aptos"/>
              </a:defRPr>
            </a:pPr>
            <a:r>
              <a:t>Executive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566928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tos"/>
              </a:defRPr>
            </a:pPr>
            <a:r>
              <a:t>Reporting period · January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8869680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AI-GENERATED EXECUTIVE REPORTING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9235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Aptos"/>
              </a:defRPr>
            </a:pPr>
            <a:r>
              <a:t>Written, designed and self-reviewed by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02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01 · PORTFOLIO SNAPSHOT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Portfolio Snapshot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100 active projects · 11 flagged · €5.9M exposure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00B050"/>
                </a:solidFill>
                <a:latin typeface="Aptos"/>
              </a:defRPr>
            </a:pPr>
            <a:r>
              <a:t>201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Total projects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100 active · 101 pending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8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88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5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00B050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9975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5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lifetime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17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8975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C0000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975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Overdue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8975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12% of active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46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146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37976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00B050"/>
                </a:solidFill>
                <a:latin typeface="Aptos"/>
              </a:defRPr>
            </a:pPr>
            <a:r>
              <a:t>€39.4M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7976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Committed budget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7976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€21.5M active · €18.0M pending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575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575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66976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ED8B00"/>
                </a:solidFill>
                <a:latin typeface="Aptos"/>
              </a:defRPr>
            </a:pPr>
            <a:r>
              <a:t>16.5%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66976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YTD Spend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66976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€6.5M of €39.4M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9536" y="5577840"/>
            <a:ext cx="8229600" cy="2743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9536" y="5577840"/>
            <a:ext cx="8229600" cy="4572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0704" y="574243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890D"/>
                </a:solidFill>
                <a:latin typeface="Aptos"/>
              </a:defRPr>
            </a:pPr>
            <a:r>
              <a:t>SCHEDULE HEALTH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" y="6172200"/>
            <a:ext cx="7863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B050"/>
                </a:solidFill>
                <a:latin typeface="Aptos"/>
              </a:rPr>
              <a:t>  19  </a:t>
            </a:r>
            <a:r>
              <a:rPr sz="1500" b="0">
                <a:solidFill>
                  <a:srgbClr val="53565A"/>
                </a:solidFill>
                <a:latin typeface="Aptos"/>
              </a:rPr>
              <a:t>On Track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D8B00"/>
                </a:solidFill>
                <a:latin typeface="Aptos"/>
              </a:rPr>
              <a:t>   1  </a:t>
            </a:r>
            <a:r>
              <a:rPr sz="1500" b="0">
                <a:solidFill>
                  <a:srgbClr val="53565A"/>
                </a:solidFill>
                <a:latin typeface="Aptos"/>
              </a:rPr>
              <a:t>Delayed ≤20%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0000"/>
                </a:solidFill>
                <a:latin typeface="Aptos"/>
              </a:rPr>
              <a:t>  22  </a:t>
            </a:r>
            <a:r>
              <a:rPr sz="1500" b="0">
                <a:solidFill>
                  <a:srgbClr val="53565A"/>
                </a:solidFill>
                <a:latin typeface="Aptos"/>
              </a:rPr>
              <a:t>Delayed &gt;20%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999999"/>
                </a:solidFill>
                <a:latin typeface="Aptos"/>
              </a:rPr>
              <a:t>  58  </a:t>
            </a:r>
            <a:r>
              <a:rPr sz="1500" b="0">
                <a:solidFill>
                  <a:srgbClr val="53565A"/>
                </a:solidFill>
                <a:latin typeface="Aptos"/>
              </a:rPr>
              <a:t>No Baseline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53728" y="5577840"/>
            <a:ext cx="8174736" cy="2743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53728" y="5577840"/>
            <a:ext cx="8174736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4896" y="574243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890D"/>
                </a:solidFill>
                <a:latin typeface="Aptos"/>
              </a:defRPr>
            </a:pPr>
            <a:r>
              <a:t>KEY TAKEAWAY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54896" y="617220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53565A"/>
                </a:solidFill>
                <a:latin typeface="Aptos"/>
              </a:defRPr>
            </a:pPr>
            <a:r>
              <a:t>Portfolio showing mixed results; 11 flags · €5.9M exposure.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3565A"/>
                </a:solidFill>
                <a:latin typeface="Aptos"/>
              </a:defRPr>
            </a:pPr>
            <a:r>
              <a:t>81% of active portfolio shows schedule risk (58 without baseline). Budget discipline strong overall; YTD spend at 16.5% of FY budget.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3565A"/>
                </a:solidFill>
                <a:latin typeface="Aptos"/>
              </a:defRPr>
            </a:pPr>
            <a:r>
              <a:t>Immediate action required: prioritize the 11 flagged projects representing €5.9M exposure.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03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02 · DEEP DIVE: SCHEDULE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Schedule Health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Schedule distribution across 100 active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On Track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94176" y="3858768"/>
            <a:ext cx="10058400" cy="457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94176" y="3858768"/>
            <a:ext cx="1911095" cy="457200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35455" y="384048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892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Delayed ≤20%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94176" y="4910327"/>
            <a:ext cx="10058400" cy="457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94176" y="4910327"/>
            <a:ext cx="137160" cy="45720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35455" y="489204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Delayed &gt;20%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94176" y="5961888"/>
            <a:ext cx="10058400" cy="457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94176" y="5961888"/>
            <a:ext cx="221284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35455" y="594360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6995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No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94176" y="7013448"/>
            <a:ext cx="10058400" cy="457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94176" y="7013448"/>
            <a:ext cx="5833872" cy="457200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35455" y="699516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Aptos"/>
              </a:defRPr>
            </a:pPr>
            <a:r>
              <a:t>58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356080" y="3840480"/>
            <a:ext cx="3072384" cy="4297680"/>
          </a:xfrm>
          <a:prstGeom prst="rect">
            <a:avLst/>
          </a:prstGeom>
          <a:solidFill>
            <a:srgbClr val="1C3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356080" y="3840480"/>
            <a:ext cx="3072384" cy="4572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557248" y="40233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6BC25"/>
                </a:solidFill>
                <a:latin typeface="Aptos"/>
              </a:defRPr>
            </a:pPr>
            <a:r>
              <a:t>KEY SCHEDULE RISKS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557248" y="4480560"/>
            <a:ext cx="2697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250" b="0">
                <a:solidFill>
                  <a:srgbClr val="FFFFFF"/>
                </a:solidFill>
                <a:latin typeface="Aptos"/>
              </a:defRPr>
            </a:pPr>
            <a:r>
              <a:t>— 22 projects delayed &gt;20% — schedule recovery required</a:t>
            </a:r>
          </a:p>
          <a:p>
            <a:pPr algn="l">
              <a:spcAft>
                <a:spcPts val="1000"/>
              </a:spcAft>
              <a:defRPr sz="1250" b="0">
                <a:solidFill>
                  <a:srgbClr val="FFFFFF"/>
                </a:solidFill>
                <a:latin typeface="Aptos"/>
              </a:defRPr>
            </a:pPr>
            <a:r>
              <a:t>— 58 projects without baseline — submission required to enable tracking</a:t>
            </a:r>
          </a:p>
          <a:p>
            <a:pPr algn="l">
              <a:spcAft>
                <a:spcPts val="1000"/>
              </a:spcAft>
              <a:defRPr sz="1250" b="0">
                <a:solidFill>
                  <a:srgbClr val="FFFFFF"/>
                </a:solidFill>
                <a:latin typeface="Aptos"/>
              </a:defRPr>
            </a:pPr>
            <a:r>
              <a:t>— 81% of active portfolio is delayed or lacking schedule visibility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04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03 · DEEP DIVE: BUDGET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Budget Health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FY budget distribution by category · €39.4M committed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840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C"/>
                </a:solidFill>
                <a:latin typeface="Aptos"/>
              </a:defRPr>
            </a:pPr>
            <a:r>
              <a:t>Long Term Maintenance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056" y="3858768"/>
            <a:ext cx="8229600" cy="45720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89536" y="3840480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€21.5M  ·  54%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892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C"/>
                </a:solidFill>
                <a:latin typeface="Aptos"/>
              </a:defRPr>
            </a:pPr>
            <a:r>
              <a:t>Financial Performance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77056" y="4910327"/>
            <a:ext cx="5181600" cy="457200"/>
          </a:xfrm>
          <a:prstGeom prst="rect">
            <a:avLst/>
          </a:prstGeom>
          <a:solidFill>
            <a:srgbClr val="5A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41535" y="4892040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€13.4M  ·  34%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5943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C"/>
                </a:solidFill>
                <a:latin typeface="Aptos"/>
              </a:defRPr>
            </a:pPr>
            <a:r>
              <a:t>Betterment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77056" y="5961888"/>
            <a:ext cx="1524000" cy="45720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3936" y="5943600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€3.9M  ·  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6995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C"/>
                </a:solidFill>
                <a:latin typeface="Aptos"/>
              </a:defRPr>
            </a:pPr>
            <a:r>
              <a:t>Safety / Regulatory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77056" y="7013448"/>
            <a:ext cx="304800" cy="457200"/>
          </a:xfrm>
          <a:prstGeom prst="rect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64736" y="6995160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€0.7M  ·  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161520" y="3840480"/>
            <a:ext cx="5266944" cy="429768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161520" y="3840480"/>
            <a:ext cx="5266944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62688" y="40233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890D"/>
                </a:solidFill>
                <a:latin typeface="Aptos"/>
              </a:defRPr>
            </a:pPr>
            <a:r>
              <a:t>BUDGET INSIGHTS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62688" y="4526280"/>
            <a:ext cx="4892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1">
                <a:solidFill>
                  <a:srgbClr val="1C1C1C"/>
                </a:solidFill>
                <a:latin typeface="Aptos"/>
              </a:rPr>
              <a:t>96% of active within budget</a:t>
            </a:r>
            <a:r>
              <a:rPr sz="1250" b="0">
                <a:solidFill>
                  <a:srgbClr val="53565A"/>
                </a:solidFill>
                <a:latin typeface="Aptos"/>
              </a:rPr>
              <a:t> — strong fiscal discipline maintained.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1C1C1C"/>
                </a:solidFill>
                <a:latin typeface="Aptos"/>
              </a:rPr>
              <a:t>4 projects at overrun risk</a:t>
            </a:r>
            <a:r>
              <a:rPr sz="1250" b="0">
                <a:solidFill>
                  <a:srgbClr val="53565A"/>
                </a:solidFill>
                <a:latin typeface="Aptos"/>
              </a:rPr>
              <a:t> — capped at 300% ceiling exposure.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1C1C1C"/>
                </a:solidFill>
                <a:latin typeface="Aptos"/>
              </a:rPr>
              <a:t>€5.9M total RAG exposure</a:t>
            </a:r>
            <a:r>
              <a:rPr sz="1250" b="0">
                <a:solidFill>
                  <a:srgbClr val="53565A"/>
                </a:solidFill>
                <a:latin typeface="Aptos"/>
              </a:rPr>
              <a:t> — spread across 11 flagged projects.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1C1C1C"/>
                </a:solidFill>
                <a:latin typeface="Aptos"/>
              </a:rPr>
              <a:t>Long Term Maintenance leads at €21.5M</a:t>
            </a:r>
            <a:r>
              <a:rPr sz="1250" b="0">
                <a:solidFill>
                  <a:srgbClr val="53565A"/>
                </a:solidFill>
                <a:latin typeface="Aptos"/>
              </a:rPr>
              <a:t> — accounting for 54% of the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05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04 · LEADERSHIP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Leadership Decisions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3 items require leadership decision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3703320"/>
            <a:ext cx="8229600" cy="25146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3703320"/>
            <a:ext cx="8229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84962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Aptos"/>
              </a:rPr>
              <a:t>D1  </a:t>
            </a:r>
            <a:r>
              <a:rPr sz="1300" b="1">
                <a:solidFill>
                  <a:srgbClr val="C00000"/>
                </a:solidFill>
                <a:latin typeface="Aptos"/>
              </a:rPr>
              <a:t>CRITICAL</a:t>
            </a:r>
            <a:r>
              <a:rPr sz="1300" b="1">
                <a:solidFill>
                  <a:srgbClr val="1C1C1C"/>
                </a:solidFill>
                <a:latin typeface="Aptos"/>
              </a:rPr>
              <a:t>   SCHEDULE BASELINE ENFORCEMENT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427024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Aptos"/>
              </a:defRPr>
            </a:pPr>
            <a:r>
              <a:t>Approve mandatory schedule baseline submission for all 58 projects without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120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53565A"/>
                </a:solidFill>
                <a:latin typeface="Aptos"/>
              </a:defRPr>
            </a:pPr>
            <a:r>
              <a:t>Without baseline dates, 81% of active portfolio cannot be tracked.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5760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5787B"/>
                </a:solidFill>
                <a:latin typeface="Aptos"/>
              </a:rPr>
              <a:t>Owner: </a:t>
            </a:r>
            <a:r>
              <a:rPr sz="1100" b="0">
                <a:solidFill>
                  <a:srgbClr val="53565A"/>
                </a:solidFill>
                <a:latin typeface="Aptos"/>
              </a:rPr>
              <a:t>Portfolio PMO Lead</a:t>
            </a:r>
            <a:r>
              <a:rPr sz="1100" b="1">
                <a:solidFill>
                  <a:srgbClr val="75787B"/>
                </a:solidFill>
                <a:latin typeface="Aptos"/>
              </a:rPr>
              <a:t>    Target: </a:t>
            </a:r>
            <a:r>
              <a:rPr sz="1100" b="0">
                <a:solidFill>
                  <a:srgbClr val="53565A"/>
                </a:solidFill>
                <a:latin typeface="Aptos"/>
              </a:rPr>
              <a:t>+1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98863" y="3703320"/>
            <a:ext cx="8229600" cy="25146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98863" y="3703320"/>
            <a:ext cx="8229600" cy="4572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7463" y="384962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D8B00"/>
                </a:solidFill>
                <a:latin typeface="Aptos"/>
              </a:rPr>
              <a:t>D2  </a:t>
            </a:r>
            <a:r>
              <a:rPr sz="1300" b="1">
                <a:solidFill>
                  <a:srgbClr val="ED8B00"/>
                </a:solidFill>
                <a:latin typeface="Aptos"/>
              </a:rPr>
              <a:t>HIGH</a:t>
            </a:r>
            <a:r>
              <a:rPr sz="1300" b="1">
                <a:solidFill>
                  <a:srgbClr val="1C1C1C"/>
                </a:solidFill>
                <a:latin typeface="Aptos"/>
              </a:rPr>
              <a:t>   STALLED PROJECT ESCALATION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3" y="427024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Aptos"/>
              </a:defRPr>
            </a:pPr>
            <a:r>
              <a:t>Authorise VP-level review of the 11 flagged projects.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7463" y="5120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53565A"/>
                </a:solidFill>
                <a:latin typeface="Aptos"/>
              </a:defRPr>
            </a:pPr>
            <a:r>
              <a:t>€5.9M exposure concentrated in a few large projects.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7463" y="5760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5787B"/>
                </a:solidFill>
                <a:latin typeface="Aptos"/>
              </a:rPr>
              <a:t>Owner: </a:t>
            </a:r>
            <a:r>
              <a:rPr sz="1100" b="0">
                <a:solidFill>
                  <a:srgbClr val="53565A"/>
                </a:solidFill>
                <a:latin typeface="Aptos"/>
              </a:rPr>
              <a:t>Technical Services VP</a:t>
            </a:r>
            <a:r>
              <a:rPr sz="1100" b="1">
                <a:solidFill>
                  <a:srgbClr val="75787B"/>
                </a:solidFill>
                <a:latin typeface="Aptos"/>
              </a:rPr>
              <a:t>    Target: </a:t>
            </a:r>
            <a:r>
              <a:rPr sz="1100" b="0">
                <a:solidFill>
                  <a:srgbClr val="53565A"/>
                </a:solidFill>
                <a:latin typeface="Aptos"/>
              </a:rPr>
              <a:t>Immediate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" y="6446520"/>
            <a:ext cx="8229600" cy="25146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9536" y="6446520"/>
            <a:ext cx="8229600" cy="45720"/>
          </a:xfrm>
          <a:prstGeom prst="rect">
            <a:avLst/>
          </a:prstGeom>
          <a:solidFill>
            <a:srgbClr val="007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659282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76A8"/>
                </a:solidFill>
                <a:latin typeface="Aptos"/>
              </a:rPr>
              <a:t>D3  </a:t>
            </a:r>
            <a:r>
              <a:rPr sz="1300" b="1">
                <a:solidFill>
                  <a:srgbClr val="0076A8"/>
                </a:solidFill>
                <a:latin typeface="Aptos"/>
              </a:rPr>
              <a:t>MEDIUM</a:t>
            </a:r>
            <a:r>
              <a:rPr sz="1300" b="1">
                <a:solidFill>
                  <a:srgbClr val="1C1C1C"/>
                </a:solidFill>
                <a:latin typeface="Aptos"/>
              </a:rPr>
              <a:t>   ACTIVATION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701344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Aptos"/>
              </a:defRPr>
            </a:pPr>
            <a:r>
              <a:t>Validate PM capacity before Q2 activation of 101 pending projects.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78638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53565A"/>
                </a:solidFill>
                <a:latin typeface="Aptos"/>
              </a:defRPr>
            </a:pPr>
            <a:r>
              <a:t>Current portfolio already absorbs significant committed budget.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" y="8503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5787B"/>
                </a:solidFill>
                <a:latin typeface="Aptos"/>
              </a:rPr>
              <a:t>Owner: </a:t>
            </a:r>
            <a:r>
              <a:rPr sz="1100" b="0">
                <a:solidFill>
                  <a:srgbClr val="53565A"/>
                </a:solidFill>
                <a:latin typeface="Aptos"/>
              </a:rPr>
              <a:t>Site Leads</a:t>
            </a:r>
            <a:r>
              <a:rPr sz="1100" b="1">
                <a:solidFill>
                  <a:srgbClr val="75787B"/>
                </a:solidFill>
                <a:latin typeface="Aptos"/>
              </a:rPr>
              <a:t>    Target: </a:t>
            </a:r>
            <a:r>
              <a:rPr sz="1100" b="0">
                <a:solidFill>
                  <a:srgbClr val="53565A"/>
                </a:solidFill>
                <a:latin typeface="Aptos"/>
              </a:rPr>
              <a:t>+2 months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8863" y="6446520"/>
            <a:ext cx="8229600" cy="25146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98863" y="6446520"/>
            <a:ext cx="8229600" cy="45720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27463" y="659282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5787B"/>
                </a:solidFill>
                <a:latin typeface="Aptos"/>
              </a:rPr>
              <a:t>D4  </a:t>
            </a:r>
            <a:r>
              <a:rPr sz="1300" b="1">
                <a:solidFill>
                  <a:srgbClr val="75787B"/>
                </a:solidFill>
                <a:latin typeface="Aptos"/>
              </a:rPr>
              <a:t>LOW</a:t>
            </a:r>
            <a:r>
              <a:rPr sz="1300" b="1">
                <a:solidFill>
                  <a:srgbClr val="1C1C1C"/>
                </a:solidFill>
                <a:latin typeface="Aptos"/>
              </a:rPr>
              <a:t>   BUDGET CALIBRATION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27463" y="701344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Aptos"/>
              </a:defRPr>
            </a:pPr>
            <a:r>
              <a:t>Direct Finance to investigate budget-vs-actuals patterns.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7463" y="78638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53565A"/>
                </a:solidFill>
                <a:latin typeface="Aptos"/>
              </a:defRPr>
            </a:pPr>
            <a:r>
              <a:t>Review of budget assumptions for next FY planning.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7463" y="8503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5787B"/>
                </a:solidFill>
                <a:latin typeface="Aptos"/>
              </a:rPr>
              <a:t>Owner: </a:t>
            </a:r>
            <a:r>
              <a:rPr sz="1100" b="0">
                <a:solidFill>
                  <a:srgbClr val="53565A"/>
                </a:solidFill>
                <a:latin typeface="Aptos"/>
              </a:rPr>
              <a:t>Finance &amp; Control</a:t>
            </a:r>
            <a:r>
              <a:rPr sz="1100" b="1">
                <a:solidFill>
                  <a:srgbClr val="75787B"/>
                </a:solidFill>
                <a:latin typeface="Aptos"/>
              </a:rPr>
              <a:t>    Target: </a:t>
            </a:r>
            <a:r>
              <a:rPr sz="1100" b="0">
                <a:solidFill>
                  <a:srgbClr val="53565A"/>
                </a:solidFill>
                <a:latin typeface="Aptos"/>
              </a:rPr>
              <a:t>+1 quarter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06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05 · PROJECTS AT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Projects at Risk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Top 5 by RAG severity · €5.9M total exposure across 11 flagged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59536" y="3749039"/>
          <a:ext cx="16568928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7772400"/>
                <a:gridCol w="2377440"/>
                <a:gridCol w="1828800"/>
                <a:gridCol w="2103120"/>
                <a:gridCol w="1298448"/>
              </a:tblGrid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RAG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Project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Owner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CY Budget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%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C00000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 Hydraulic Pumps Replacement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€168k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C00000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3D HRSG Scanning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Technical Services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Dec 2025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€0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Steam Turbine Major Inspection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Jan 2027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€4.5M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TIL001121 Auto Tune System Installation at Thisvi Plant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€500k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Replacement of High Pressure (HP) and Hot Reheat (HRH) Steam turbine valves.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Feb 2026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€360k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07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06 · KEY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Key Risks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Top portfolio risks, mitigations and owners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59536" y="3749039"/>
          <a:ext cx="16568928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5040"/>
                <a:gridCol w="1554480"/>
                <a:gridCol w="1737360"/>
                <a:gridCol w="4206240"/>
                <a:gridCol w="1828800"/>
                <a:gridCol w="1207008"/>
              </a:tblGrid>
              <a:tr h="9144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Risk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Severity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Mitigation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Owner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1C1C1C"/>
                          </a:solidFill>
                          <a:latin typeface="Aptos"/>
                        </a:defRPr>
                      </a:pPr>
                      <a:r>
                        <a:t>58 active projects have no schedule baseline — visibility severely limited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Identified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Mandate baseline entry for all active projects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Portfolio PMO Lead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Q1 2026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1C1C1C"/>
                          </a:solidFill>
                          <a:latin typeface="Aptos"/>
                        </a:defRPr>
                      </a:pPr>
                      <a:r>
                        <a:t>€5.9M exposure across 11 Red/Amber projects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MED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Identified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Review top-5 in next SteerCo and escalate worst Reds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Technical Services VP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Next SteerCo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1C1C1C"/>
                          </a:solidFill>
                          <a:latin typeface="Aptos"/>
                        </a:defRPr>
                      </a:pPr>
                      <a:r>
                        <a:t>Schedule headline at 81% — significant slippage risk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MED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In Control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Weekly schedule review with project owners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Portfolio PMO Lead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Ongoing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08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APPENDIX A.1 · RED / AMBER PROJECTS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Flagged Projects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All 11 Red / Amber projects this period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59536" y="3657600"/>
          <a:ext cx="16568928" cy="5586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05840"/>
                <a:gridCol w="1554480"/>
                <a:gridCol w="6858000"/>
                <a:gridCol w="2286000"/>
                <a:gridCol w="1737360"/>
                <a:gridCol w="1828800"/>
                <a:gridCol w="1298448"/>
              </a:tblGrid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RAG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Code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Project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Owner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Go-live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Budget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%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C00000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2025-00144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 Hydraulic Pumps Replacement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€168k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C00000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2025-00159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3D HRSG Scanning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Technical Services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Dec 2025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€0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2025-00127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Steam Turbine Major Inspection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Jan 2027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€4.5M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2025-00164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TIL001121 Auto Tune System Installation at Thisvi Plant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€500k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2025-00188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Replacement of High Pressure (HP) and Hot Reheat (HRH) Steam turbine valves.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Feb 2026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€360k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2025-00113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HRSG HRH Vent stop valve replacement &amp; part of pipeline replacement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€115k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2025-00118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Fuel Gas AGI Flow computer and flow meters replacement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€110k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80%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2025-00157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Evaporative Cooling Tower (ECT) supply &amp; installation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Dec 2025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€60k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2025-00116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 Lube oil mist eliminator upgrade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€57k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70%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2025-00156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Addition of oil moisture analyser in GT &amp; ST lube oil tanks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€30k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655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2025-00117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Desuperheaters replacement (HP intermediate and HRH Final)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€0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90%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