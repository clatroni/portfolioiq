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4" r:id="rId6"/>
    <p:sldId id="265" r:id="rId7"/>
    <p:sldId id="266" r:id="rId8"/>
    <p:sldId id="267" r:id="rId9"/>
    <p:sldId id="260" r:id="rId10"/>
    <p:sldId id="261" r:id="rId11"/>
    <p:sldId id="262" r:id="rId12"/>
    <p:sldId id="263" r:id="rId13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B681C36-DF4B-424C-A73D-C7354EC7F03D}">
          <p14:sldIdLst>
            <p14:sldId id="256"/>
            <p14:sldId id="264"/>
            <p14:sldId id="265"/>
            <p14:sldId id="266"/>
            <p14:sldId id="267"/>
            <p14:sldId id="260"/>
            <p14:sldId id="261"/>
          </p14:sldIdLst>
        </p14:section>
        <p14:section name="Appendix" id="{F9D6D2CD-7E97-404C-A60E-BF4E709D76C3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3AF218-B3CF-1E8B-B46C-8B10ECF779CC}" name="Liu, Leanne" initials="LL" userId="S::leannliu@deloitte.gr::af3828df-4c76-4f6b-b15b-edecdc42dd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452F"/>
    <a:srgbClr val="B2E045"/>
    <a:srgbClr val="86BC25"/>
    <a:srgbClr val="86F200"/>
    <a:srgbClr val="0DF200"/>
    <a:srgbClr val="A0DCFF"/>
    <a:srgbClr val="3EFAC5"/>
    <a:srgbClr val="77FFFF"/>
    <a:srgbClr val="FDD300"/>
    <a:srgbClr val="9DD4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B6E044-92F6-AEAB-5B14-C6DD90C67549}" v="7" dt="2026-04-25T06:07:22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microsoft.com/office/2018/10/relationships/authors" Target="authors.xml"/><Relationship Id="rId22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Schedule Health</c:v>
                </c:pt>
              </c:strCache>
            </c:strRef>
          </c:tx>
          <c:spPr>
            <a:solidFill>
              <a:srgbClr val="86BC2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EEC-4B03-A32B-338F84877B8A}"/>
              </c:ext>
            </c:extLst>
          </c:dPt>
          <c:dPt>
            <c:idx val="1"/>
            <c:invertIfNegative val="0"/>
            <c:bubble3D val="0"/>
            <c:spPr>
              <a:solidFill>
                <a:srgbClr val="ED8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4EEC-4B03-A32B-338F84877B8A}"/>
              </c:ext>
            </c:extLst>
          </c:dPt>
          <c:dPt>
            <c:idx val="2"/>
            <c:invertIfNegative val="0"/>
            <c:bubble3D val="0"/>
            <c:spPr>
              <a:solidFill>
                <a:srgbClr val="DA29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4EEC-4B03-A32B-338F84877B8A}"/>
              </c:ext>
            </c:extLst>
          </c:dPt>
          <c:dPt>
            <c:idx val="3"/>
            <c:invertIfNegative val="0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4EEC-4B03-A32B-338F84877B8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On Track</c:v>
                </c:pt>
                <c:pt idx="1">
                  <c:v>Delayed ≤20%</c:v>
                </c:pt>
                <c:pt idx="2">
                  <c:v>Delayed &gt;20%</c:v>
                </c:pt>
                <c:pt idx="3">
                  <c:v>No Baseline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1</c:v>
                </c:pt>
                <c:pt idx="2">
                  <c:v>21</c:v>
                </c:pt>
                <c:pt idx="3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EEC-4B03-A32B-338F84877B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56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6BC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339-4721-8D2C-FCF5A7DE7BDA}"/>
              </c:ext>
            </c:extLst>
          </c:dPt>
          <c:dPt>
            <c:idx val="1"/>
            <c:bubble3D val="0"/>
            <c:spPr>
              <a:solidFill>
                <a:srgbClr val="5A8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39-4721-8D2C-FCF5A7DE7BDA}"/>
              </c:ext>
            </c:extLst>
          </c:dPt>
          <c:dPt>
            <c:idx val="2"/>
            <c:bubble3D val="0"/>
            <c:spPr>
              <a:solidFill>
                <a:srgbClr val="ED8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39-4721-8D2C-FCF5A7DE7BDA}"/>
              </c:ext>
            </c:extLst>
          </c:dPt>
          <c:dPt>
            <c:idx val="3"/>
            <c:bubble3D val="0"/>
            <c:spPr>
              <a:solidFill>
                <a:srgbClr val="005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39-4721-8D2C-FCF5A7DE7BD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339-4721-8D2C-FCF5A7DE7BD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339-4721-8D2C-FCF5A7DE7BD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12229A4B-5E4B-47F8-8AED-905196CC78FF}" type="PERCENTAGE">
                      <a:rPr lang="en-US">
                        <a:solidFill>
                          <a:schemeClr val="bg1"/>
                        </a:solidFill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339-4721-8D2C-FCF5A7DE7BD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595AD610-D273-4F6D-B6B1-741A1CF0E3AB}" type="PERCENTAGE">
                      <a:rPr lang="en-US">
                        <a:solidFill>
                          <a:schemeClr val="bg1"/>
                        </a:solidFill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9339-4721-8D2C-FCF5A7DE7BD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Long Term Maint.</c:v>
                </c:pt>
                <c:pt idx="1">
                  <c:v>Financial Perf.</c:v>
                </c:pt>
                <c:pt idx="2">
                  <c:v>Betterment</c:v>
                </c:pt>
                <c:pt idx="3">
                  <c:v>Safety / Reg.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21.5</c:v>
                </c:pt>
                <c:pt idx="1">
                  <c:v>13.4</c:v>
                </c:pt>
                <c:pt idx="2">
                  <c:v>3.9</c:v>
                </c:pt>
                <c:pt idx="3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39-4721-8D2C-FCF5A7DE7B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0E382C-E070-4503-106D-85C07F8AB2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D41C3-3D58-32F2-203A-D541CCE338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83609-075A-4B50-ABE5-EE0DEB9DB21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3741F-5DC3-23B8-731C-B650747748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72110-7A66-6801-9850-CF4BEC3D1C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013A5-416E-4B5D-BF0B-A0B52425B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7937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7CC45-E385-4712-857A-4AEF82161B8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EBCCB-0526-4881-B9BF-F7EAA8D25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414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owth - Divider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341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9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levate - Divider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956817-069A-2698-06BC-DD4195BD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2628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6177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780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, No Background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EFC2F98-5944-4C9B-A2C3-BF4DC0C7C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2164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EFC2F98-5944-4C9B-A2C3-BF4DC0C7C3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2402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99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770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10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48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9083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HUI 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76664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400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136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30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8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2974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tags" Target="../tags/tag1.xml"/><Relationship Id="rId20" Type="http://schemas.openxmlformats.org/officeDocument/2006/relationships/oleObject" Target="../embeddings/oleObject1.bin"/><Relationship Id="rId2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3390262971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270" imgH="270" progId="TCLayout.ActiveDocument.1">
                  <p:embed/>
                </p:oleObj>
              </mc:Choice>
              <mc:Fallback>
                <p:oleObj name="think-cell Slide" r:id="rId20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8DD4451D-AA41-46B7-B096-2F5D33F52091}"/>
              </a:ext>
            </a:extLst>
          </p:cNvPr>
          <p:cNvSpPr>
            <a:spLocks/>
          </p:cNvSpPr>
          <p:nvPr userDrawn="1"/>
        </p:nvSpPr>
        <p:spPr bwMode="auto">
          <a:xfrm>
            <a:off x="8221993" y="6553227"/>
            <a:ext cx="3061736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Open Sans" charset="0"/>
                <a:cs typeface="Calibri Light" panose="020F0302020204030204" pitchFamily="34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Open Sans" charset="0"/>
                <a:cs typeface="Calibri Light" panose="020F0302020204030204" pitchFamily="34" charset="0"/>
                <a:sym typeface="Frutiger Next Pro Light" charset="0"/>
              </a:rPr>
              <a:t>  | </a:t>
            </a:r>
            <a:r>
              <a:rPr lang="en-US"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  <a:sym typeface="Frutiger Next Pro Light" charset="0"/>
              </a:rPr>
              <a:t>Copyright © 2024 Deloitte Central Mediterranean. All rights reserved. </a:t>
            </a:r>
            <a:endParaRPr lang="en-US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Open Sans" charset="0"/>
              <a:cs typeface="Calibri Light" panose="020F0302020204030204" pitchFamily="34" charset="0"/>
              <a:sym typeface="Frutiger Next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600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2" r:id="rId5"/>
    <p:sldLayoutId id="2147483673" r:id="rId6"/>
    <p:sldLayoutId id="2147483674" r:id="rId7"/>
    <p:sldLayoutId id="2147483675" r:id="rId8"/>
    <p:sldLayoutId id="2147483678" r:id="rId9"/>
    <p:sldLayoutId id="2147483679" r:id="rId10"/>
    <p:sldLayoutId id="2147483680" r:id="rId11"/>
    <p:sldLayoutId id="2147483681" r:id="rId12"/>
    <p:sldLayoutId id="2147483686" r:id="rId13"/>
    <p:sldLayoutId id="2147483687" r:id="rId14"/>
    <p:sldLayoutId id="2147483688" r:id="rId15"/>
    <p:sldLayoutId id="2147483689" r:id="rId16"/>
    <p:sldLayoutId id="2147483691" r:id="rId17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SzPct val="100000"/>
        <a:buFont typeface="Arial" panose="020B0604020202020204" pitchFamily="34" charset="0"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ClrTx/>
        <a:buSzPct val="100000"/>
        <a:buFont typeface="Arial"/>
        <a:buNone/>
        <a:defRPr lang="en-US" sz="1300" b="0" i="0" kern="1200" dirty="0" smtClean="0">
          <a:solidFill>
            <a:schemeClr val="tx1"/>
          </a:solidFill>
          <a:latin typeface="Open Sans Light" panose="020B0306030504020204" pitchFamily="34" charset="0"/>
          <a:ea typeface="+mn-ea"/>
          <a:cs typeface="Calibri Light" panose="020F0302020204030204" pitchFamily="34" charset="0"/>
        </a:defRPr>
      </a:lvl2pPr>
      <a:lvl3pPr marL="176400" indent="-1764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356400" indent="-1764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532800" indent="-176400" algn="l" defTabSz="798513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>
          <p15:clr>
            <a:srgbClr val="F26B43"/>
          </p15:clr>
        </p15:guide>
        <p15:guide id="2" pos="1152">
          <p15:clr>
            <a:srgbClr val="F26B43"/>
          </p15:clr>
        </p15:guide>
        <p15:guide id="3" pos="1248">
          <p15:clr>
            <a:srgbClr val="F26B43"/>
          </p15:clr>
        </p15:guide>
        <p15:guide id="4" pos="1800">
          <p15:clr>
            <a:srgbClr val="F26B43"/>
          </p15:clr>
        </p15:guide>
        <p15:guide id="5" pos="1896">
          <p15:clr>
            <a:srgbClr val="F26B43"/>
          </p15:clr>
        </p15:guide>
        <p15:guide id="6" pos="2472">
          <p15:clr>
            <a:srgbClr val="F26B43"/>
          </p15:clr>
        </p15:guide>
        <p15:guide id="7" pos="2568">
          <p15:clr>
            <a:srgbClr val="F26B43"/>
          </p15:clr>
        </p15:guide>
        <p15:guide id="8" pos="3120">
          <p15:clr>
            <a:srgbClr val="F26B43"/>
          </p15:clr>
        </p15:guide>
        <p15:guide id="9" pos="3216">
          <p15:clr>
            <a:srgbClr val="F26B43"/>
          </p15:clr>
        </p15:guide>
        <p15:guide id="10" pos="3792">
          <p15:clr>
            <a:srgbClr val="F26B43"/>
          </p15:clr>
        </p15:guide>
        <p15:guide id="11" pos="3888">
          <p15:clr>
            <a:srgbClr val="F26B43"/>
          </p15:clr>
        </p15:guide>
        <p15:guide id="12" pos="4440">
          <p15:clr>
            <a:srgbClr val="F26B43"/>
          </p15:clr>
        </p15:guide>
        <p15:guide id="13" pos="4536">
          <p15:clr>
            <a:srgbClr val="F26B43"/>
          </p15:clr>
        </p15:guide>
        <p15:guide id="14" pos="5112">
          <p15:clr>
            <a:srgbClr val="F26B43"/>
          </p15:clr>
        </p15:guide>
        <p15:guide id="15" pos="5208">
          <p15:clr>
            <a:srgbClr val="F26B43"/>
          </p15:clr>
        </p15:guide>
        <p15:guide id="16" pos="5760">
          <p15:clr>
            <a:srgbClr val="F26B43"/>
          </p15:clr>
        </p15:guide>
        <p15:guide id="17" pos="5856">
          <p15:clr>
            <a:srgbClr val="F26B43"/>
          </p15:clr>
        </p15:guide>
        <p15:guide id="18" pos="6432">
          <p15:clr>
            <a:srgbClr val="F26B43"/>
          </p15:clr>
        </p15:guide>
        <p15:guide id="19" pos="6528">
          <p15:clr>
            <a:srgbClr val="F26B43"/>
          </p15:clr>
        </p15:guide>
        <p15:guide id="20" pos="7080">
          <p15:clr>
            <a:srgbClr val="F26B43"/>
          </p15:clr>
        </p15:guide>
        <p15:guide id="21" orient="horz" pos="2160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pos="3840">
          <p15:clr>
            <a:srgbClr val="F26B43"/>
          </p15:clr>
        </p15:guide>
        <p15:guide id="25" orient="horz" pos="672">
          <p15:clr>
            <a:srgbClr val="F26B43"/>
          </p15:clr>
        </p15:guide>
        <p15:guide id="26" orient="horz" pos="111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828675"/>
            <a:ext cx="266700" cy="12700"/>
          </a:xfrm>
          <a:prstGeom prst="rect">
            <a:avLst/>
          </a:prstGeom>
          <a:solidFill>
            <a:srgbClr val="86BC25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90600" y="762000"/>
            <a:ext cx="3668505" cy="1714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900" kern="0" spc="144" dirty="0">
                <a:solidFill>
                  <a:srgbClr val="7578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DELOITTE · PORTFOLIO</a:t>
            </a:r>
            <a:r>
              <a:rPr lang="en-US" sz="900" b="1" kern="0" spc="144" dirty="0">
                <a:solidFill>
                  <a:srgbClr val="86BC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IQ</a:t>
            </a:r>
            <a:endParaRPr lang="en-US" sz="900" b="1" dirty="0">
              <a:solidFill>
                <a:srgbClr val="86BC25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71500" y="2131709"/>
            <a:ext cx="6218037" cy="3657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4800" b="1" kern="0" spc="-1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Portfolio</a:t>
            </a:r>
          </a:p>
          <a:p>
            <a:r>
              <a:rPr lang="en-US" sz="4800" b="1" kern="0" spc="-1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</a:rPr>
              <a:t>Executive Dashboard</a:t>
            </a:r>
            <a:r>
              <a:rPr lang="en-US" sz="4800" b="1" kern="0" spc="-336" dirty="0">
                <a:solidFill>
                  <a:srgbClr val="86B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71501" y="3762375"/>
            <a:ext cx="4409061" cy="63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kern="0" spc="-20" dirty="0">
                <a:solidFill>
                  <a:srgbClr val="535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period </a:t>
            </a:r>
            <a:r>
              <a:rPr lang="en-US" sz="2000" kern="0" spc="-20" dirty="0">
                <a:solidFill>
                  <a:srgbClr val="86B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r>
              <a:rPr lang="en-US" sz="2000" kern="0" spc="-20" dirty="0">
                <a:solidFill>
                  <a:srgbClr val="535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kern="0" spc="-20" dirty="0">
                <a:solidFill>
                  <a:srgbClr val="86B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February 2026</a:t>
            </a:r>
            <a:endParaRPr lang="en-US" sz="2000" dirty="0">
              <a:solidFill>
                <a:srgbClr val="86BC25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71500" y="6019800"/>
            <a:ext cx="2401692" cy="190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55000"/>
              </a:lnSpc>
            </a:pPr>
            <a:r>
              <a:rPr lang="en-US" sz="850" b="1" kern="0" spc="102" dirty="0">
                <a:solidFill>
                  <a:srgbClr val="222222"/>
                </a:solidFill>
                <a:latin typeface="JetBrains Mono" pitchFamily="34" charset="0"/>
                <a:ea typeface="JetBrains Mono" pitchFamily="34" charset="-122"/>
              </a:rPr>
              <a:t>ISSUE DATE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71501" y="6197600"/>
            <a:ext cx="240167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55000"/>
              </a:lnSpc>
            </a:pPr>
            <a:r>
              <a:rPr lang="en-US" sz="850" kern="0" spc="102">
                <a:solidFill>
                  <a:srgbClr val="535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MARCH 2026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6789540" y="0"/>
            <a:ext cx="5402461" cy="6858000"/>
          </a:xfrm>
          <a:prstGeom prst="rect">
            <a:avLst/>
          </a:prstGeom>
          <a:solidFill>
            <a:srgbClr val="25452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7522269" y="1460500"/>
            <a:ext cx="3937000" cy="3937000"/>
          </a:xfrm>
          <a:prstGeom prst="ellipse">
            <a:avLst/>
          </a:prstGeom>
          <a:solidFill>
            <a:srgbClr val="B2E045"/>
          </a:solidFill>
          <a:ln/>
          <a:effectLst>
            <a:outerShdw blurRad="1143000" dist="50800" dir="16200000" algn="bl" rotWithShape="0">
              <a:srgbClr val="86BC25">
                <a:alpha val="50000"/>
              </a:srgbClr>
            </a:outerShdw>
          </a:effectLst>
        </p:spPr>
        <p:txBody>
          <a:bodyPr/>
          <a:lstStyle/>
          <a:p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80164" y="6210300"/>
            <a:ext cx="1527572" cy="190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algn="r">
              <a:lnSpc>
                <a:spcPct val="155000"/>
              </a:lnSpc>
            </a:pPr>
            <a:r>
              <a:rPr lang="en-US" sz="850" b="1" kern="0" spc="102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PREPARED BY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430980" y="6388100"/>
            <a:ext cx="1527556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r">
              <a:lnSpc>
                <a:spcPct val="155000"/>
              </a:lnSpc>
            </a:pPr>
            <a:r>
              <a:rPr lang="en-US" sz="850" kern="0" spc="102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DELOITTE CONSULTING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E87A7DDE-7B0A-5946-4597-C2BCEF3E42F0}"/>
              </a:ext>
            </a:extLst>
          </p:cNvPr>
          <p:cNvSpPr/>
          <p:nvPr/>
        </p:nvSpPr>
        <p:spPr>
          <a:xfrm>
            <a:off x="993400" y="897579"/>
            <a:ext cx="4409061" cy="63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000" i="1" kern="0" spc="-20" dirty="0">
                <a:solidFill>
                  <a:schemeClr val="bg1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insight. Leadership-ready reporting.</a:t>
            </a:r>
            <a:endParaRPr lang="en-US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7C81-8F6F-025C-BE77-4A914B7C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6DFB0-9118-853A-F85C-911D9C4E7100}"/>
              </a:ext>
            </a:extLst>
          </p:cNvPr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dirty="0">
                <a:solidFill>
                  <a:srgbClr val="000000"/>
                </a:solidFill>
                <a:latin typeface="Open Sans"/>
              </a:rPr>
              <a:t>01  —  PORTFOLIO SNAPSHOT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527B8-FDD1-79E5-531A-D577FE33E322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February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8BEF72-F5D7-70C8-CAC3-C2B0E009FF21}"/>
              </a:ext>
            </a:extLst>
          </p:cNvPr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88DC9A-B2A1-2999-905F-853D0BE3430C}"/>
              </a:ext>
            </a:extLst>
          </p:cNvPr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t>Portfolio Snapshot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7DCE8-2C5C-6E29-C8E5-8CB15CD92F9E}"/>
              </a:ext>
            </a:extLst>
          </p:cNvPr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High-level status across 201 projects as of February 2026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BFE1CE-50C3-48B8-BB5F-B5C5C734B7AC}"/>
              </a:ext>
            </a:extLst>
          </p:cNvPr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BC71B1-6C21-EA49-D138-59CB8072807D}"/>
              </a:ext>
            </a:extLst>
          </p:cNvPr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February 2026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A2CA1A-557F-B3AB-128C-9B038F3BB8E0}"/>
              </a:ext>
            </a:extLst>
          </p:cNvPr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1</a:t>
            </a:r>
          </a:p>
        </p:txBody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E232F93A-D39B-614D-A5FD-93C2D3928CD2}"/>
              </a:ext>
            </a:extLst>
          </p:cNvPr>
          <p:cNvSpPr/>
          <p:nvPr/>
        </p:nvSpPr>
        <p:spPr>
          <a:xfrm>
            <a:off x="365760" y="1371600"/>
            <a:ext cx="21214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308667F1-260B-488E-0FD3-4517009D520B}"/>
              </a:ext>
            </a:extLst>
          </p:cNvPr>
          <p:cNvSpPr/>
          <p:nvPr/>
        </p:nvSpPr>
        <p:spPr>
          <a:xfrm>
            <a:off x="365760" y="1371600"/>
            <a:ext cx="2121408" cy="36576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9CF77A7A-D44E-C205-3D21-BD0BC3A6E836}"/>
              </a:ext>
            </a:extLst>
          </p:cNvPr>
          <p:cNvSpPr/>
          <p:nvPr/>
        </p:nvSpPr>
        <p:spPr>
          <a:xfrm>
            <a:off x="475488" y="1463040"/>
            <a:ext cx="1901952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280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B1DC8895-A241-C0F3-1D2A-4DBAF50C2470}"/>
              </a:ext>
            </a:extLst>
          </p:cNvPr>
          <p:cNvSpPr/>
          <p:nvPr/>
        </p:nvSpPr>
        <p:spPr>
          <a:xfrm>
            <a:off x="457200" y="20802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SCOPE</a:t>
            </a:r>
            <a:endParaRPr lang="en-US" sz="85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DE30365-43A3-9382-DEEB-190D8AAAB2B9}"/>
              </a:ext>
            </a:extLst>
          </p:cNvPr>
          <p:cNvSpPr/>
          <p:nvPr/>
        </p:nvSpPr>
        <p:spPr>
          <a:xfrm>
            <a:off x="457200" y="239207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57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active · 101 pending</a:t>
            </a:r>
            <a:endParaRPr lang="en-US" sz="750"/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CC0E6444-BED0-BA1F-662F-D31AD047DAA6}"/>
              </a:ext>
            </a:extLst>
          </p:cNvPr>
          <p:cNvSpPr/>
          <p:nvPr/>
        </p:nvSpPr>
        <p:spPr>
          <a:xfrm>
            <a:off x="2670048" y="1371600"/>
            <a:ext cx="21214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D979508-5B80-B159-8DEC-C83AD3C565D0}"/>
              </a:ext>
            </a:extLst>
          </p:cNvPr>
          <p:cNvSpPr/>
          <p:nvPr/>
        </p:nvSpPr>
        <p:spPr>
          <a:xfrm>
            <a:off x="2670048" y="1371600"/>
            <a:ext cx="2121408" cy="36576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1057C9CB-218F-5925-6367-464E5C720A02}"/>
              </a:ext>
            </a:extLst>
          </p:cNvPr>
          <p:cNvSpPr/>
          <p:nvPr/>
        </p:nvSpPr>
        <p:spPr>
          <a:xfrm>
            <a:off x="2779776" y="1463040"/>
            <a:ext cx="1901952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FE989DC2-F3D4-D502-EC65-AAE9E3C19851}"/>
              </a:ext>
            </a:extLst>
          </p:cNvPr>
          <p:cNvSpPr/>
          <p:nvPr/>
        </p:nvSpPr>
        <p:spPr>
          <a:xfrm>
            <a:off x="2761488" y="20802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4435AF56-0924-660B-A7D8-E01E5D593B8E}"/>
              </a:ext>
            </a:extLst>
          </p:cNvPr>
          <p:cNvSpPr/>
          <p:nvPr/>
        </p:nvSpPr>
        <p:spPr>
          <a:xfrm>
            <a:off x="2761488" y="239207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57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98 active</a:t>
            </a:r>
            <a:endParaRPr lang="en-US" sz="75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DBB542C7-EC05-66EC-FF49-255545E0A585}"/>
              </a:ext>
            </a:extLst>
          </p:cNvPr>
          <p:cNvSpPr/>
          <p:nvPr/>
        </p:nvSpPr>
        <p:spPr>
          <a:xfrm>
            <a:off x="4974336" y="1371600"/>
            <a:ext cx="21214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21">
            <a:extLst>
              <a:ext uri="{FF2B5EF4-FFF2-40B4-BE49-F238E27FC236}">
                <a16:creationId xmlns:a16="http://schemas.microsoft.com/office/drawing/2014/main" id="{AB3D0A63-39AF-7B89-F77D-F247FBE2AFA3}"/>
              </a:ext>
            </a:extLst>
          </p:cNvPr>
          <p:cNvSpPr/>
          <p:nvPr/>
        </p:nvSpPr>
        <p:spPr>
          <a:xfrm>
            <a:off x="4974336" y="1371600"/>
            <a:ext cx="2121408" cy="36576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90019FD6-3D8E-B781-8878-256604F1F7F5}"/>
              </a:ext>
            </a:extLst>
          </p:cNvPr>
          <p:cNvSpPr/>
          <p:nvPr/>
        </p:nvSpPr>
        <p:spPr>
          <a:xfrm>
            <a:off x="5084064" y="1463040"/>
            <a:ext cx="1901952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0EC146ED-A30C-22AD-4F24-005ECA546536}"/>
              </a:ext>
            </a:extLst>
          </p:cNvPr>
          <p:cNvSpPr/>
          <p:nvPr/>
        </p:nvSpPr>
        <p:spPr>
          <a:xfrm>
            <a:off x="5065776" y="20802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850"/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DC7FA780-EC91-955C-B80C-A3AB2C835239}"/>
              </a:ext>
            </a:extLst>
          </p:cNvPr>
          <p:cNvSpPr/>
          <p:nvPr/>
        </p:nvSpPr>
        <p:spPr>
          <a:xfrm>
            <a:off x="5065776" y="239207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57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active</a:t>
            </a:r>
            <a:endParaRPr lang="en-US" sz="750"/>
          </a:p>
        </p:txBody>
      </p:sp>
      <p:sp>
        <p:nvSpPr>
          <p:cNvPr id="61" name="Shape 25">
            <a:extLst>
              <a:ext uri="{FF2B5EF4-FFF2-40B4-BE49-F238E27FC236}">
                <a16:creationId xmlns:a16="http://schemas.microsoft.com/office/drawing/2014/main" id="{428E4D4B-4B77-D166-F701-2053BDC9E89A}"/>
              </a:ext>
            </a:extLst>
          </p:cNvPr>
          <p:cNvSpPr/>
          <p:nvPr/>
        </p:nvSpPr>
        <p:spPr>
          <a:xfrm>
            <a:off x="7278624" y="1371600"/>
            <a:ext cx="21214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ED829ABA-5FCA-C248-5EC0-CAC439907083}"/>
              </a:ext>
            </a:extLst>
          </p:cNvPr>
          <p:cNvSpPr/>
          <p:nvPr/>
        </p:nvSpPr>
        <p:spPr>
          <a:xfrm>
            <a:off x="7278624" y="1371600"/>
            <a:ext cx="2121408" cy="36576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6A469AD9-DF53-376B-520A-05A7F3155B11}"/>
              </a:ext>
            </a:extLst>
          </p:cNvPr>
          <p:cNvSpPr/>
          <p:nvPr/>
        </p:nvSpPr>
        <p:spPr>
          <a:xfrm>
            <a:off x="7388352" y="1463040"/>
            <a:ext cx="1901952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€39.4M</a:t>
            </a:r>
            <a:endParaRPr lang="en-US" sz="2800"/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44E3E047-CAA1-7E5B-6FE3-447CEB950954}"/>
              </a:ext>
            </a:extLst>
          </p:cNvPr>
          <p:cNvSpPr/>
          <p:nvPr/>
        </p:nvSpPr>
        <p:spPr>
          <a:xfrm>
            <a:off x="7370064" y="20802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COMMITTED BUDGET</a:t>
            </a:r>
            <a:endParaRPr lang="en-US" sz="850"/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1A01CEA6-38D9-809D-69D3-3B2C4227948F}"/>
              </a:ext>
            </a:extLst>
          </p:cNvPr>
          <p:cNvSpPr/>
          <p:nvPr/>
        </p:nvSpPr>
        <p:spPr>
          <a:xfrm>
            <a:off x="7370064" y="239207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57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€21.5M active · €18.0M pending</a:t>
            </a:r>
            <a:endParaRPr lang="en-US" sz="750"/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2DB36598-1868-1563-602A-04382A388481}"/>
              </a:ext>
            </a:extLst>
          </p:cNvPr>
          <p:cNvSpPr/>
          <p:nvPr/>
        </p:nvSpPr>
        <p:spPr>
          <a:xfrm>
            <a:off x="9582912" y="1371600"/>
            <a:ext cx="21214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31">
            <a:extLst>
              <a:ext uri="{FF2B5EF4-FFF2-40B4-BE49-F238E27FC236}">
                <a16:creationId xmlns:a16="http://schemas.microsoft.com/office/drawing/2014/main" id="{93A4C5BC-D5FC-D38A-5FA0-A4AE3E1F9A60}"/>
              </a:ext>
            </a:extLst>
          </p:cNvPr>
          <p:cNvSpPr/>
          <p:nvPr/>
        </p:nvSpPr>
        <p:spPr>
          <a:xfrm>
            <a:off x="9582912" y="1371600"/>
            <a:ext cx="2121408" cy="36576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5B8CF05B-4719-E079-55EE-BA10D0E0153F}"/>
              </a:ext>
            </a:extLst>
          </p:cNvPr>
          <p:cNvSpPr/>
          <p:nvPr/>
        </p:nvSpPr>
        <p:spPr>
          <a:xfrm>
            <a:off x="9692640" y="1463040"/>
            <a:ext cx="1901952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25.7%</a:t>
            </a:r>
            <a:endParaRPr lang="en-US" sz="280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60C9F790-B5BF-7BD0-10D5-41318D9B611B}"/>
              </a:ext>
            </a:extLst>
          </p:cNvPr>
          <p:cNvSpPr/>
          <p:nvPr/>
        </p:nvSpPr>
        <p:spPr>
          <a:xfrm>
            <a:off x="9674352" y="20802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YEAR-TO-DATE SPEND</a:t>
            </a:r>
            <a:endParaRPr lang="en-US" sz="850"/>
          </a:p>
        </p:txBody>
      </p:sp>
      <p:sp>
        <p:nvSpPr>
          <p:cNvPr id="70" name="Text 34">
            <a:extLst>
              <a:ext uri="{FF2B5EF4-FFF2-40B4-BE49-F238E27FC236}">
                <a16:creationId xmlns:a16="http://schemas.microsoft.com/office/drawing/2014/main" id="{CFB617C2-0649-DEC5-3C2C-0EF820C27A94}"/>
              </a:ext>
            </a:extLst>
          </p:cNvPr>
          <p:cNvSpPr/>
          <p:nvPr/>
        </p:nvSpPr>
        <p:spPr>
          <a:xfrm>
            <a:off x="9674352" y="239207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57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€10.1M of €39.4M (PR+PO)</a:t>
            </a:r>
            <a:endParaRPr lang="en-US" sz="75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AD29357-C62E-35B8-AA43-91D657C0A10F}"/>
              </a:ext>
            </a:extLst>
          </p:cNvPr>
          <p:cNvGrpSpPr/>
          <p:nvPr/>
        </p:nvGrpSpPr>
        <p:grpSpPr>
          <a:xfrm>
            <a:off x="365760" y="2880360"/>
            <a:ext cx="5532120" cy="2057400"/>
            <a:chOff x="320040" y="2880360"/>
            <a:chExt cx="5577840" cy="2057400"/>
          </a:xfrm>
        </p:grpSpPr>
        <p:sp>
          <p:nvSpPr>
            <p:cNvPr id="71" name="Shape 35">
              <a:extLst>
                <a:ext uri="{FF2B5EF4-FFF2-40B4-BE49-F238E27FC236}">
                  <a16:creationId xmlns:a16="http://schemas.microsoft.com/office/drawing/2014/main" id="{45F0B1D1-3B8B-39F0-78A4-9E0E856DE180}"/>
                </a:ext>
              </a:extLst>
            </p:cNvPr>
            <p:cNvSpPr/>
            <p:nvPr/>
          </p:nvSpPr>
          <p:spPr>
            <a:xfrm>
              <a:off x="320040" y="2880360"/>
              <a:ext cx="5577840" cy="2057400"/>
            </a:xfrm>
            <a:prstGeom prst="rect">
              <a:avLst/>
            </a:prstGeom>
            <a:solidFill>
              <a:srgbClr val="F8F8F8"/>
            </a:solidFill>
            <a:ln w="6350">
              <a:solidFill>
                <a:srgbClr val="D0D0C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36">
              <a:extLst>
                <a:ext uri="{FF2B5EF4-FFF2-40B4-BE49-F238E27FC236}">
                  <a16:creationId xmlns:a16="http://schemas.microsoft.com/office/drawing/2014/main" id="{7157904A-3FEB-27F7-1FF8-4C032B0ACE37}"/>
                </a:ext>
              </a:extLst>
            </p:cNvPr>
            <p:cNvSpPr/>
            <p:nvPr/>
          </p:nvSpPr>
          <p:spPr>
            <a:xfrm>
              <a:off x="320040" y="2880360"/>
              <a:ext cx="36576" cy="2057400"/>
            </a:xfrm>
            <a:prstGeom prst="rect">
              <a:avLst/>
            </a:prstGeom>
            <a:solidFill>
              <a:srgbClr val="DA291C"/>
            </a:solidFill>
            <a:ln w="12700">
              <a:solidFill>
                <a:srgbClr val="DA29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37">
              <a:extLst>
                <a:ext uri="{FF2B5EF4-FFF2-40B4-BE49-F238E27FC236}">
                  <a16:creationId xmlns:a16="http://schemas.microsoft.com/office/drawing/2014/main" id="{612E129D-9039-8C6E-BCA4-B23D64A27278}"/>
                </a:ext>
              </a:extLst>
            </p:cNvPr>
            <p:cNvSpPr/>
            <p:nvPr/>
          </p:nvSpPr>
          <p:spPr>
            <a:xfrm>
              <a:off x="457200" y="2971800"/>
              <a:ext cx="53492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>
                  <a:solidFill>
                    <a:srgbClr val="DA29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SCHEDULE OVERVIEW</a:t>
              </a:r>
              <a:endParaRPr lang="en-US" sz="900"/>
            </a:p>
          </p:txBody>
        </p:sp>
        <p:sp>
          <p:nvSpPr>
            <p:cNvPr id="74" name="Text 38">
              <a:extLst>
                <a:ext uri="{FF2B5EF4-FFF2-40B4-BE49-F238E27FC236}">
                  <a16:creationId xmlns:a16="http://schemas.microsoft.com/office/drawing/2014/main" id="{5A6FD461-AC73-F5B0-AC00-0CA9462B610A}"/>
                </a:ext>
              </a:extLst>
            </p:cNvPr>
            <p:cNvSpPr/>
            <p:nvPr/>
          </p:nvSpPr>
          <p:spPr>
            <a:xfrm>
              <a:off x="530352" y="3182112"/>
              <a:ext cx="5212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00" b="1">
                  <a:solidFill>
                    <a:srgbClr val="DA29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81%</a:t>
              </a:r>
              <a:r>
                <a:rPr lang="en-US" sz="1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of active portfolio is delayed or lacking schedule visibility.</a:t>
              </a:r>
              <a:endParaRPr lang="en-US" sz="1000"/>
            </a:p>
          </p:txBody>
        </p:sp>
        <p:sp>
          <p:nvSpPr>
            <p:cNvPr id="75" name="Text 39">
              <a:extLst>
                <a:ext uri="{FF2B5EF4-FFF2-40B4-BE49-F238E27FC236}">
                  <a16:creationId xmlns:a16="http://schemas.microsoft.com/office/drawing/2014/main" id="{A4503582-BACC-1283-B8E6-0030B4B85F12}"/>
                </a:ext>
              </a:extLst>
            </p:cNvPr>
            <p:cNvSpPr/>
            <p:nvPr/>
          </p:nvSpPr>
          <p:spPr>
            <a:xfrm>
              <a:off x="530352" y="3493008"/>
              <a:ext cx="5212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Only </a:t>
              </a:r>
              <a:r>
                <a:rPr lang="en-US" sz="10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 of 100</a:t>
              </a:r>
              <a:r>
                <a:rPr lang="en-US" sz="1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projects confirmed on track.</a:t>
              </a:r>
              <a:endParaRPr lang="en-US" sz="1000"/>
            </a:p>
          </p:txBody>
        </p:sp>
        <p:sp>
          <p:nvSpPr>
            <p:cNvPr id="76" name="Text 40">
              <a:extLst>
                <a:ext uri="{FF2B5EF4-FFF2-40B4-BE49-F238E27FC236}">
                  <a16:creationId xmlns:a16="http://schemas.microsoft.com/office/drawing/2014/main" id="{67C9056E-BA94-10E8-E47D-7B3EDE33C347}"/>
                </a:ext>
              </a:extLst>
            </p:cNvPr>
            <p:cNvSpPr/>
            <p:nvPr/>
          </p:nvSpPr>
          <p:spPr>
            <a:xfrm>
              <a:off x="530352" y="3767328"/>
              <a:ext cx="5212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00">
                  <a:solidFill>
                    <a:srgbClr val="5356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 delayed &gt;20%  ·  58 with no baseline established</a:t>
              </a:r>
              <a:endParaRPr lang="en-US" sz="1000"/>
            </a:p>
          </p:txBody>
        </p:sp>
      </p:grpSp>
      <p:sp>
        <p:nvSpPr>
          <p:cNvPr id="77" name="Shape 41">
            <a:extLst>
              <a:ext uri="{FF2B5EF4-FFF2-40B4-BE49-F238E27FC236}">
                <a16:creationId xmlns:a16="http://schemas.microsoft.com/office/drawing/2014/main" id="{B0C998FF-2BF8-D32F-4A3D-D80EE4DC5949}"/>
              </a:ext>
            </a:extLst>
          </p:cNvPr>
          <p:cNvSpPr/>
          <p:nvPr/>
        </p:nvSpPr>
        <p:spPr>
          <a:xfrm>
            <a:off x="6263640" y="2880360"/>
            <a:ext cx="5440680" cy="2057400"/>
          </a:xfrm>
          <a:prstGeom prst="rect">
            <a:avLst/>
          </a:prstGeom>
          <a:solidFill>
            <a:srgbClr val="F8F8F8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42">
            <a:extLst>
              <a:ext uri="{FF2B5EF4-FFF2-40B4-BE49-F238E27FC236}">
                <a16:creationId xmlns:a16="http://schemas.microsoft.com/office/drawing/2014/main" id="{DB98742C-3604-A0FB-AEF1-BACDECA43508}"/>
              </a:ext>
            </a:extLst>
          </p:cNvPr>
          <p:cNvSpPr/>
          <p:nvPr/>
        </p:nvSpPr>
        <p:spPr>
          <a:xfrm>
            <a:off x="6263640" y="2880360"/>
            <a:ext cx="36576" cy="20574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43">
            <a:extLst>
              <a:ext uri="{FF2B5EF4-FFF2-40B4-BE49-F238E27FC236}">
                <a16:creationId xmlns:a16="http://schemas.microsoft.com/office/drawing/2014/main" id="{39F4D4D2-E149-B3BF-93BC-6C60F17A3719}"/>
              </a:ext>
            </a:extLst>
          </p:cNvPr>
          <p:cNvSpPr/>
          <p:nvPr/>
        </p:nvSpPr>
        <p:spPr>
          <a:xfrm>
            <a:off x="6400800" y="297180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STATUS</a:t>
            </a:r>
            <a:endParaRPr lang="en-US" sz="900"/>
          </a:p>
        </p:txBody>
      </p:sp>
      <p:sp>
        <p:nvSpPr>
          <p:cNvPr id="80" name="Text 44">
            <a:extLst>
              <a:ext uri="{FF2B5EF4-FFF2-40B4-BE49-F238E27FC236}">
                <a16:creationId xmlns:a16="http://schemas.microsoft.com/office/drawing/2014/main" id="{B068CA16-FE08-18A8-832D-D436F1CE643F}"/>
              </a:ext>
            </a:extLst>
          </p:cNvPr>
          <p:cNvSpPr/>
          <p:nvPr/>
        </p:nvSpPr>
        <p:spPr>
          <a:xfrm>
            <a:off x="6473952" y="31821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within budget — strong fiscal discipline.</a:t>
            </a: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/>
          </a:p>
        </p:txBody>
      </p:sp>
      <p:sp>
        <p:nvSpPr>
          <p:cNvPr id="81" name="Text 45">
            <a:extLst>
              <a:ext uri="{FF2B5EF4-FFF2-40B4-BE49-F238E27FC236}">
                <a16:creationId xmlns:a16="http://schemas.microsoft.com/office/drawing/2014/main" id="{13DD9EF3-68F4-7175-83A5-B4288EAA8A73}"/>
              </a:ext>
            </a:extLst>
          </p:cNvPr>
          <p:cNvSpPr/>
          <p:nvPr/>
        </p:nvSpPr>
        <p:spPr>
          <a:xfrm>
            <a:off x="6473952" y="34930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projects with Budget Overrun Risk (up to 300% of FY2026 Budget).</a:t>
            </a:r>
            <a:endParaRPr lang="en-US" sz="1000"/>
          </a:p>
        </p:txBody>
      </p:sp>
      <p:sp>
        <p:nvSpPr>
          <p:cNvPr id="82" name="Text 46">
            <a:extLst>
              <a:ext uri="{FF2B5EF4-FFF2-40B4-BE49-F238E27FC236}">
                <a16:creationId xmlns:a16="http://schemas.microsoft.com/office/drawing/2014/main" id="{BF4DC19C-D281-389D-4A58-6B5C8A4CE29A}"/>
              </a:ext>
            </a:extLst>
          </p:cNvPr>
          <p:cNvSpPr/>
          <p:nvPr/>
        </p:nvSpPr>
        <p:spPr>
          <a:xfrm>
            <a:off x="6473952" y="37673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€9.2M exposure across 12 Red/Amber flagged projects.</a:t>
            </a:r>
            <a:endParaRPr lang="en-US" sz="1000"/>
          </a:p>
        </p:txBody>
      </p:sp>
      <p:sp>
        <p:nvSpPr>
          <p:cNvPr id="84" name="Shape 47">
            <a:extLst>
              <a:ext uri="{FF2B5EF4-FFF2-40B4-BE49-F238E27FC236}">
                <a16:creationId xmlns:a16="http://schemas.microsoft.com/office/drawing/2014/main" id="{ABC8C7BD-3797-2891-F47B-FC1EF2D112ED}"/>
              </a:ext>
            </a:extLst>
          </p:cNvPr>
          <p:cNvSpPr/>
          <p:nvPr/>
        </p:nvSpPr>
        <p:spPr>
          <a:xfrm>
            <a:off x="365760" y="5074920"/>
            <a:ext cx="11338560" cy="13258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48">
            <a:extLst>
              <a:ext uri="{FF2B5EF4-FFF2-40B4-BE49-F238E27FC236}">
                <a16:creationId xmlns:a16="http://schemas.microsoft.com/office/drawing/2014/main" id="{0F82C345-D7E7-874C-149B-A61A159EFA59}"/>
              </a:ext>
            </a:extLst>
          </p:cNvPr>
          <p:cNvSpPr/>
          <p:nvPr/>
        </p:nvSpPr>
        <p:spPr>
          <a:xfrm>
            <a:off x="365760" y="5074920"/>
            <a:ext cx="45720" cy="132588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49">
            <a:extLst>
              <a:ext uri="{FF2B5EF4-FFF2-40B4-BE49-F238E27FC236}">
                <a16:creationId xmlns:a16="http://schemas.microsoft.com/office/drawing/2014/main" id="{60FE8996-4E3D-2896-1B1D-C35A0A36A82D}"/>
              </a:ext>
            </a:extLst>
          </p:cNvPr>
          <p:cNvSpPr/>
          <p:nvPr/>
        </p:nvSpPr>
        <p:spPr>
          <a:xfrm>
            <a:off x="573176" y="5148072"/>
            <a:ext cx="10902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800"/>
          </a:p>
        </p:txBody>
      </p:sp>
      <p:sp>
        <p:nvSpPr>
          <p:cNvPr id="87" name="Text 50">
            <a:extLst>
              <a:ext uri="{FF2B5EF4-FFF2-40B4-BE49-F238E27FC236}">
                <a16:creationId xmlns:a16="http://schemas.microsoft.com/office/drawing/2014/main" id="{F0A4BD2C-1161-4B6D-7A6B-4055FD1CE6C7}"/>
              </a:ext>
            </a:extLst>
          </p:cNvPr>
          <p:cNvSpPr/>
          <p:nvPr/>
        </p:nvSpPr>
        <p:spPr>
          <a:xfrm>
            <a:off x="574348" y="5394960"/>
            <a:ext cx="110842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profile escalating; exposure 10× since December.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flagged projects now carry €9.2M exposure (vs €0.9M in Dec). Steam Turbine Generator rewinding emerged as a new €3M risk. Schedule slippage stable at 81% but exposure is growing through bigger-ticket flags.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required: validate Steam Turbine Generator scope and de-risk Q1 schedule recovery before further escalation.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22857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FFDF-C0F3-719B-14AD-38D1246A0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9AB7CA-449F-1213-CB94-F6F6074C9FDE}"/>
              </a:ext>
            </a:extLst>
          </p:cNvPr>
          <p:cNvSpPr txBox="1"/>
          <p:nvPr/>
        </p:nvSpPr>
        <p:spPr>
          <a:xfrm>
            <a:off x="457200" y="27432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0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2a</a:t>
            </a:r>
            <a:r>
              <a:rPr sz="1000" b="1">
                <a:solidFill>
                  <a:srgbClr val="000000"/>
                </a:solidFill>
                <a:latin typeface="Open Sans"/>
              </a:rPr>
              <a:t>  —  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DEEP DIVE: SCHEDULE HEALTH</a:t>
            </a:r>
            <a:endParaRPr sz="1000" b="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1FB7A0-3C83-0B55-CFF2-F2F2518CC875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February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B9A49-1F72-3533-1633-7D5BF63B321E}"/>
              </a:ext>
            </a:extLst>
          </p:cNvPr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F3C9B4-F5AE-6B75-10CD-1AEE139AECC8}"/>
              </a:ext>
            </a:extLst>
          </p:cNvPr>
          <p:cNvSpPr txBox="1"/>
          <p:nvPr/>
        </p:nvSpPr>
        <p:spPr>
          <a:xfrm>
            <a:off x="457200" y="6446520"/>
            <a:ext cx="7315200" cy="15234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February 2026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6E8995-3300-888B-6AFB-8E50877D0806}"/>
              </a:ext>
            </a:extLst>
          </p:cNvPr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0D41D-8E8B-EF15-2635-26DB16B89787}"/>
              </a:ext>
            </a:extLst>
          </p:cNvPr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t>Schedule Health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1F12BF-16B1-8BCF-FE98-B5D173C0FA2C}"/>
              </a:ext>
            </a:extLst>
          </p:cNvPr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Schedule distribution across 98 active projects and key risk areas</a:t>
            </a:r>
          </a:p>
        </p:txBody>
      </p:sp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2BE6CE32-983B-0BBF-0AE4-70751BA6BF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7672872"/>
              </p:ext>
            </p:extLst>
          </p:nvPr>
        </p:nvGraphicFramePr>
        <p:xfrm>
          <a:off x="484632" y="185166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hape 10">
            <a:extLst>
              <a:ext uri="{FF2B5EF4-FFF2-40B4-BE49-F238E27FC236}">
                <a16:creationId xmlns:a16="http://schemas.microsoft.com/office/drawing/2014/main" id="{C872FCBA-70C8-D92F-CCFC-1A8257A03A85}"/>
              </a:ext>
            </a:extLst>
          </p:cNvPr>
          <p:cNvSpPr/>
          <p:nvPr/>
        </p:nvSpPr>
        <p:spPr>
          <a:xfrm>
            <a:off x="5760720" y="2834640"/>
            <a:ext cx="5897880" cy="1691640"/>
          </a:xfrm>
          <a:prstGeom prst="rect">
            <a:avLst/>
          </a:prstGeom>
          <a:solidFill>
            <a:srgbClr val="F8F8F8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71DF434-B0D3-3226-B6C9-3E6A68CA304F}"/>
              </a:ext>
            </a:extLst>
          </p:cNvPr>
          <p:cNvSpPr/>
          <p:nvPr/>
        </p:nvSpPr>
        <p:spPr>
          <a:xfrm>
            <a:off x="5760720" y="2834640"/>
            <a:ext cx="36576" cy="169164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6A5844E0-86F8-5720-158E-E614EBF7969D}"/>
              </a:ext>
            </a:extLst>
          </p:cNvPr>
          <p:cNvSpPr/>
          <p:nvPr/>
        </p:nvSpPr>
        <p:spPr>
          <a:xfrm>
            <a:off x="5897880" y="292608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SCHEDULE RISKS</a:t>
            </a:r>
            <a:endParaRPr lang="en-US" sz="90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9064150A-AAF2-DC02-940A-6968087ECA0A}"/>
              </a:ext>
            </a:extLst>
          </p:cNvPr>
          <p:cNvSpPr/>
          <p:nvPr/>
        </p:nvSpPr>
        <p:spPr>
          <a:xfrm>
            <a:off x="5897880" y="333756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Schedule Health at 81% with 21 activities delayed &gt;20% and 12 overdue tasks (HIGH severity) — impacts 39.4€M budget baseline</a:t>
            </a: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4F42B22F-5D5A-DD71-F986-F90EBEA4C4CE}"/>
              </a:ext>
            </a:extLst>
          </p:cNvPr>
          <p:cNvSpPr/>
          <p:nvPr/>
        </p:nvSpPr>
        <p:spPr>
          <a:xfrm>
            <a:off x="5897880" y="370332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57 activities lack defined baselines (MEDIUM severity) — prevents accurate schedule performance tracking and variance analysis</a:t>
            </a: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0F0903F-3282-73DC-3CF0-10C9BDBF749F}"/>
              </a:ext>
            </a:extLst>
          </p:cNvPr>
          <p:cNvSpPr/>
          <p:nvPr/>
        </p:nvSpPr>
        <p:spPr>
          <a:xfrm>
            <a:off x="5897880" y="406908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9.2€M exposure identified against 39.4€M total budget with 25.6% YTD spend (MEDIUM severity) — 101 pending tasks at risk of further delays</a:t>
            </a: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09816487-82D8-F2E0-277A-485867DEAB8B}"/>
              </a:ext>
            </a:extLst>
          </p:cNvPr>
          <p:cNvSpPr/>
          <p:nvPr/>
        </p:nvSpPr>
        <p:spPr>
          <a:xfrm>
            <a:off x="5760720" y="4663440"/>
            <a:ext cx="5897880" cy="1600200"/>
          </a:xfrm>
          <a:prstGeom prst="rect">
            <a:avLst/>
          </a:prstGeom>
          <a:solidFill>
            <a:srgbClr val="F8F8F8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0105D9E4-03AC-F0F3-D3AC-FA7ED1962D3C}"/>
              </a:ext>
            </a:extLst>
          </p:cNvPr>
          <p:cNvSpPr/>
          <p:nvPr/>
        </p:nvSpPr>
        <p:spPr>
          <a:xfrm>
            <a:off x="5760720" y="4663440"/>
            <a:ext cx="36576" cy="1600200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4A0DD7DE-2580-A9B1-03A6-E078A4863FEC}"/>
              </a:ext>
            </a:extLst>
          </p:cNvPr>
          <p:cNvSpPr/>
          <p:nvPr/>
        </p:nvSpPr>
        <p:spPr>
          <a:xfrm>
            <a:off x="5897880" y="475488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</a:t>
            </a:r>
            <a:endParaRPr lang="en-US" sz="90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A4A51BFE-56CD-AE93-9B20-73668C03025F}"/>
              </a:ext>
            </a:extLst>
          </p:cNvPr>
          <p:cNvSpPr/>
          <p:nvPr/>
        </p:nvSpPr>
        <p:spPr>
          <a:xfrm>
            <a:off x="5897880" y="498348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baselines for all projects by June 2026.</a:t>
            </a:r>
            <a:endParaRPr lang="en-US" sz="1000" b="1"/>
          </a:p>
          <a:p>
            <a:pPr marL="0" indent="0">
              <a:buNone/>
            </a:pPr>
            <a:endParaRPr lang="en-US" sz="1000" b="1"/>
          </a:p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Portfolio PMO Lead  |  Target: Jun 2026</a:t>
            </a:r>
            <a:endParaRPr lang="en-US" sz="1000" b="1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2829F80-29F8-87D6-6432-B35D0794DD9C}"/>
              </a:ext>
            </a:extLst>
          </p:cNvPr>
          <p:cNvGrpSpPr/>
          <p:nvPr/>
        </p:nvGrpSpPr>
        <p:grpSpPr>
          <a:xfrm>
            <a:off x="5843016" y="1499616"/>
            <a:ext cx="5815584" cy="1005840"/>
            <a:chOff x="5806440" y="5120640"/>
            <a:chExt cx="5815584" cy="1005840"/>
          </a:xfrm>
        </p:grpSpPr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C0FCCBBB-43E5-0CCC-87E9-436AC47C24FF}"/>
                </a:ext>
              </a:extLst>
            </p:cNvPr>
            <p:cNvSpPr/>
            <p:nvPr/>
          </p:nvSpPr>
          <p:spPr>
            <a:xfrm>
              <a:off x="5806440" y="5120640"/>
              <a:ext cx="1371600" cy="100584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D0D0C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D1583429-489E-49C4-1272-E1763145DFA2}"/>
                </a:ext>
              </a:extLst>
            </p:cNvPr>
            <p:cNvSpPr/>
            <p:nvPr/>
          </p:nvSpPr>
          <p:spPr>
            <a:xfrm>
              <a:off x="5806440" y="5120640"/>
              <a:ext cx="1371600" cy="36576"/>
            </a:xfrm>
            <a:prstGeom prst="rect">
              <a:avLst/>
            </a:prstGeom>
            <a:solidFill>
              <a:srgbClr val="86BC25"/>
            </a:solidFill>
            <a:ln w="12700">
              <a:solidFill>
                <a:srgbClr val="86BC2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C4639F0F-D789-FB67-F54A-B27F21CC0C67}"/>
                </a:ext>
              </a:extLst>
            </p:cNvPr>
            <p:cNvSpPr/>
            <p:nvPr/>
          </p:nvSpPr>
          <p:spPr>
            <a:xfrm>
              <a:off x="5806440" y="5193792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86BC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</a:t>
              </a:r>
              <a:endParaRPr lang="en-US" sz="240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A35F99B3-6272-0D6A-48F3-FC0B0CED0ADB}"/>
                </a:ext>
              </a:extLst>
            </p:cNvPr>
            <p:cNvSpPr/>
            <p:nvPr/>
          </p:nvSpPr>
          <p:spPr>
            <a:xfrm>
              <a:off x="5806440" y="5705856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>
                  <a:solidFill>
                    <a:srgbClr val="5356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 Track</a:t>
              </a:r>
              <a:endParaRPr lang="en-US" sz="800"/>
            </a:p>
          </p:txBody>
        </p:sp>
        <p:sp>
          <p:nvSpPr>
            <p:cNvPr id="25" name="Shape 24">
              <a:extLst>
                <a:ext uri="{FF2B5EF4-FFF2-40B4-BE49-F238E27FC236}">
                  <a16:creationId xmlns:a16="http://schemas.microsoft.com/office/drawing/2014/main" id="{8FE73A5F-9190-BAF0-168D-BA1E4CA8C977}"/>
                </a:ext>
              </a:extLst>
            </p:cNvPr>
            <p:cNvSpPr/>
            <p:nvPr/>
          </p:nvSpPr>
          <p:spPr>
            <a:xfrm>
              <a:off x="7287768" y="5120640"/>
              <a:ext cx="1371600" cy="100584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D0D0C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5">
              <a:extLst>
                <a:ext uri="{FF2B5EF4-FFF2-40B4-BE49-F238E27FC236}">
                  <a16:creationId xmlns:a16="http://schemas.microsoft.com/office/drawing/2014/main" id="{BD402D6F-6F4B-0E88-0C0D-3E3D85BC7AD0}"/>
                </a:ext>
              </a:extLst>
            </p:cNvPr>
            <p:cNvSpPr/>
            <p:nvPr/>
          </p:nvSpPr>
          <p:spPr>
            <a:xfrm>
              <a:off x="7287768" y="5120640"/>
              <a:ext cx="1371600" cy="36576"/>
            </a:xfrm>
            <a:prstGeom prst="rect">
              <a:avLst/>
            </a:prstGeom>
            <a:solidFill>
              <a:srgbClr val="ED8B00"/>
            </a:solidFill>
            <a:ln w="12700">
              <a:solidFill>
                <a:srgbClr val="ED8B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6BCA9282-B148-B6E3-39B8-B3FA34184AF3}"/>
                </a:ext>
              </a:extLst>
            </p:cNvPr>
            <p:cNvSpPr/>
            <p:nvPr/>
          </p:nvSpPr>
          <p:spPr>
            <a:xfrm>
              <a:off x="7287768" y="5193792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ED8B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240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7A21B198-701B-4648-5376-8207496D5643}"/>
                </a:ext>
              </a:extLst>
            </p:cNvPr>
            <p:cNvSpPr/>
            <p:nvPr/>
          </p:nvSpPr>
          <p:spPr>
            <a:xfrm>
              <a:off x="7287768" y="5705856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>
                  <a:solidFill>
                    <a:srgbClr val="5356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Delayed ≤20%</a:t>
              </a:r>
              <a:endParaRPr lang="en-US" sz="800"/>
            </a:p>
          </p:txBody>
        </p:sp>
        <p:sp>
          <p:nvSpPr>
            <p:cNvPr id="29" name="Shape 28">
              <a:extLst>
                <a:ext uri="{FF2B5EF4-FFF2-40B4-BE49-F238E27FC236}">
                  <a16:creationId xmlns:a16="http://schemas.microsoft.com/office/drawing/2014/main" id="{B949821E-EE54-4CEB-F767-D0A90F3BC4BA}"/>
                </a:ext>
              </a:extLst>
            </p:cNvPr>
            <p:cNvSpPr/>
            <p:nvPr/>
          </p:nvSpPr>
          <p:spPr>
            <a:xfrm>
              <a:off x="8769096" y="5120640"/>
              <a:ext cx="1371600" cy="100584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D0D0C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9">
              <a:extLst>
                <a:ext uri="{FF2B5EF4-FFF2-40B4-BE49-F238E27FC236}">
                  <a16:creationId xmlns:a16="http://schemas.microsoft.com/office/drawing/2014/main" id="{31DF2409-2E35-94D5-5B08-590B310DF7FC}"/>
                </a:ext>
              </a:extLst>
            </p:cNvPr>
            <p:cNvSpPr/>
            <p:nvPr/>
          </p:nvSpPr>
          <p:spPr>
            <a:xfrm>
              <a:off x="8769096" y="5120640"/>
              <a:ext cx="1371600" cy="36576"/>
            </a:xfrm>
            <a:prstGeom prst="rect">
              <a:avLst/>
            </a:prstGeom>
            <a:solidFill>
              <a:srgbClr val="DA291C"/>
            </a:solidFill>
            <a:ln w="12700">
              <a:solidFill>
                <a:srgbClr val="DA29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30">
              <a:extLst>
                <a:ext uri="{FF2B5EF4-FFF2-40B4-BE49-F238E27FC236}">
                  <a16:creationId xmlns:a16="http://schemas.microsoft.com/office/drawing/2014/main" id="{79FC1AA5-AE2C-B9B6-848C-B9ABC1227B90}"/>
                </a:ext>
              </a:extLst>
            </p:cNvPr>
            <p:cNvSpPr/>
            <p:nvPr/>
          </p:nvSpPr>
          <p:spPr>
            <a:xfrm>
              <a:off x="8769096" y="5193792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DA29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</a:t>
              </a:r>
              <a:endParaRPr lang="en-US" sz="2400"/>
            </a:p>
          </p:txBody>
        </p:sp>
        <p:sp>
          <p:nvSpPr>
            <p:cNvPr id="32" name="Text 31">
              <a:extLst>
                <a:ext uri="{FF2B5EF4-FFF2-40B4-BE49-F238E27FC236}">
                  <a16:creationId xmlns:a16="http://schemas.microsoft.com/office/drawing/2014/main" id="{A8853E39-05AA-928A-EB9A-ABDEE51C7F10}"/>
                </a:ext>
              </a:extLst>
            </p:cNvPr>
            <p:cNvSpPr/>
            <p:nvPr/>
          </p:nvSpPr>
          <p:spPr>
            <a:xfrm>
              <a:off x="8769096" y="5705856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>
                  <a:solidFill>
                    <a:srgbClr val="5356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Delayed &gt;20%</a:t>
              </a:r>
              <a:endParaRPr lang="en-US" sz="800"/>
            </a:p>
          </p:txBody>
        </p:sp>
        <p:sp>
          <p:nvSpPr>
            <p:cNvPr id="33" name="Shape 32">
              <a:extLst>
                <a:ext uri="{FF2B5EF4-FFF2-40B4-BE49-F238E27FC236}">
                  <a16:creationId xmlns:a16="http://schemas.microsoft.com/office/drawing/2014/main" id="{EF82B0B8-4573-33B7-264C-ABD5F4A3BA4C}"/>
                </a:ext>
              </a:extLst>
            </p:cNvPr>
            <p:cNvSpPr/>
            <p:nvPr/>
          </p:nvSpPr>
          <p:spPr>
            <a:xfrm>
              <a:off x="10250424" y="5120640"/>
              <a:ext cx="1371600" cy="100584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D0D0C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3">
              <a:extLst>
                <a:ext uri="{FF2B5EF4-FFF2-40B4-BE49-F238E27FC236}">
                  <a16:creationId xmlns:a16="http://schemas.microsoft.com/office/drawing/2014/main" id="{3DBA796C-9254-0A03-C531-5EFF41515E11}"/>
                </a:ext>
              </a:extLst>
            </p:cNvPr>
            <p:cNvSpPr/>
            <p:nvPr/>
          </p:nvSpPr>
          <p:spPr>
            <a:xfrm>
              <a:off x="10250424" y="5120640"/>
              <a:ext cx="1371600" cy="36576"/>
            </a:xfrm>
            <a:prstGeom prst="rect">
              <a:avLst/>
            </a:prstGeom>
            <a:solidFill>
              <a:srgbClr val="888888"/>
            </a:solidFill>
            <a:ln w="12700">
              <a:solidFill>
                <a:srgbClr val="8888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4">
              <a:extLst>
                <a:ext uri="{FF2B5EF4-FFF2-40B4-BE49-F238E27FC236}">
                  <a16:creationId xmlns:a16="http://schemas.microsoft.com/office/drawing/2014/main" id="{521BF1FA-D428-7944-B0EC-9DF460CF9330}"/>
                </a:ext>
              </a:extLst>
            </p:cNvPr>
            <p:cNvSpPr/>
            <p:nvPr/>
          </p:nvSpPr>
          <p:spPr>
            <a:xfrm>
              <a:off x="10250424" y="5193792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58</a:t>
              </a:r>
              <a:endParaRPr lang="en-US" sz="2400"/>
            </a:p>
          </p:txBody>
        </p:sp>
        <p:sp>
          <p:nvSpPr>
            <p:cNvPr id="36" name="Text 35">
              <a:extLst>
                <a:ext uri="{FF2B5EF4-FFF2-40B4-BE49-F238E27FC236}">
                  <a16:creationId xmlns:a16="http://schemas.microsoft.com/office/drawing/2014/main" id="{C060322E-7391-4628-D419-4497C4C24D94}"/>
                </a:ext>
              </a:extLst>
            </p:cNvPr>
            <p:cNvSpPr/>
            <p:nvPr/>
          </p:nvSpPr>
          <p:spPr>
            <a:xfrm>
              <a:off x="10250424" y="5705856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>
                  <a:solidFill>
                    <a:srgbClr val="5356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Baseline</a:t>
              </a:r>
              <a:endParaRPr lang="en-US" sz="800"/>
            </a:p>
          </p:txBody>
        </p:sp>
      </p:grpSp>
    </p:spTree>
    <p:extLst>
      <p:ext uri="{BB962C8B-B14F-4D97-AF65-F5344CB8AC3E}">
        <p14:creationId xmlns:p14="http://schemas.microsoft.com/office/powerpoint/2010/main" val="130246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85D4-550E-C74E-8736-5A35E556E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2F74B-D5E5-7A84-48AA-7AC1F823E5E2}"/>
              </a:ext>
            </a:extLst>
          </p:cNvPr>
          <p:cNvSpPr txBox="1"/>
          <p:nvPr/>
        </p:nvSpPr>
        <p:spPr>
          <a:xfrm>
            <a:off x="457200" y="27432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0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2b</a:t>
            </a:r>
            <a:r>
              <a:rPr sz="1000" b="1">
                <a:solidFill>
                  <a:srgbClr val="000000"/>
                </a:solidFill>
                <a:latin typeface="Open Sans"/>
              </a:rPr>
              <a:t>  —  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DEEP DIVE: BUDGET HEALTH</a:t>
            </a:r>
            <a:endParaRPr sz="1000" b="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B3EA2-0FCE-F3C2-98E8-9C689CDA6AF7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February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8EF61B-F250-0764-AF83-D9FF4F1D2D11}"/>
              </a:ext>
            </a:extLst>
          </p:cNvPr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E768CB-6FB2-71DE-799C-C3D0A2575882}"/>
              </a:ext>
            </a:extLst>
          </p:cNvPr>
          <p:cNvSpPr txBox="1"/>
          <p:nvPr/>
        </p:nvSpPr>
        <p:spPr>
          <a:xfrm>
            <a:off x="457200" y="6446520"/>
            <a:ext cx="7315200" cy="15234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February 2026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C9D823-50BA-3D27-E161-1AE5EE7E7DF5}"/>
              </a:ext>
            </a:extLst>
          </p:cNvPr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093C1-0A2C-F47C-50CC-71E2272B7EAF}"/>
              </a:ext>
            </a:extLst>
          </p:cNvPr>
          <p:cNvSpPr txBox="1"/>
          <p:nvPr/>
        </p:nvSpPr>
        <p:spPr>
          <a:xfrm>
            <a:off x="457200" y="685800"/>
            <a:ext cx="1124712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rPr lang="en-US"/>
              <a:t>Budget</a:t>
            </a:r>
            <a:r>
              <a:t> Health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D9A96-0374-46A1-F87A-E936E76F721C}"/>
              </a:ext>
            </a:extLst>
          </p:cNvPr>
          <p:cNvSpPr txBox="1"/>
          <p:nvPr/>
        </p:nvSpPr>
        <p:spPr>
          <a:xfrm>
            <a:off x="457200" y="109728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FY2026 Budget Distribution by investment category and key budget health indicators</a:t>
            </a: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9FC27FFB-BF89-365B-39D9-5437123A24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129485"/>
              </p:ext>
            </p:extLst>
          </p:nvPr>
        </p:nvGraphicFramePr>
        <p:xfrm>
          <a:off x="292608" y="155448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10">
            <a:extLst>
              <a:ext uri="{FF2B5EF4-FFF2-40B4-BE49-F238E27FC236}">
                <a16:creationId xmlns:a16="http://schemas.microsoft.com/office/drawing/2014/main" id="{B3879636-107B-FA71-B2A8-0D87FA86ABCD}"/>
              </a:ext>
            </a:extLst>
          </p:cNvPr>
          <p:cNvSpPr/>
          <p:nvPr/>
        </p:nvSpPr>
        <p:spPr>
          <a:xfrm>
            <a:off x="5641848" y="1645920"/>
            <a:ext cx="54864" cy="50292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8ED2B6C6-458C-190F-8C8A-F55B20EF94DC}"/>
              </a:ext>
            </a:extLst>
          </p:cNvPr>
          <p:cNvSpPr/>
          <p:nvPr/>
        </p:nvSpPr>
        <p:spPr>
          <a:xfrm>
            <a:off x="5806440" y="1682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 Maintenance</a:t>
            </a:r>
            <a:endParaRPr lang="en-US" sz="100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737363A1-1EDA-224D-8B24-A553F7E0D714}"/>
              </a:ext>
            </a:extLst>
          </p:cNvPr>
          <p:cNvSpPr/>
          <p:nvPr/>
        </p:nvSpPr>
        <p:spPr>
          <a:xfrm>
            <a:off x="9390888" y="1682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€21.5M  ·  54%</a:t>
            </a:r>
            <a:endParaRPr lang="en-US" sz="100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BBF21D2D-0C80-AC4E-94C7-2CC253ADB24F}"/>
              </a:ext>
            </a:extLst>
          </p:cNvPr>
          <p:cNvSpPr/>
          <p:nvPr/>
        </p:nvSpPr>
        <p:spPr>
          <a:xfrm>
            <a:off x="5641848" y="2304288"/>
            <a:ext cx="54864" cy="502920"/>
          </a:xfrm>
          <a:prstGeom prst="rect">
            <a:avLst/>
          </a:prstGeom>
          <a:solidFill>
            <a:srgbClr val="5A8000"/>
          </a:solidFill>
          <a:ln w="12700">
            <a:solidFill>
              <a:srgbClr val="5A8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DDFA915-6E63-7404-6620-B37E0E93B08C}"/>
              </a:ext>
            </a:extLst>
          </p:cNvPr>
          <p:cNvSpPr/>
          <p:nvPr/>
        </p:nvSpPr>
        <p:spPr>
          <a:xfrm>
            <a:off x="5806440" y="2340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00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056F70FF-5AEE-D97E-8D61-D77C53E32747}"/>
              </a:ext>
            </a:extLst>
          </p:cNvPr>
          <p:cNvSpPr/>
          <p:nvPr/>
        </p:nvSpPr>
        <p:spPr>
          <a:xfrm>
            <a:off x="9390888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5A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€13.4M  ·  34%</a:t>
            </a:r>
            <a:endParaRPr lang="en-US" sz="100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ED4D5FA9-1571-606F-B9B7-12EC1121F7E8}"/>
              </a:ext>
            </a:extLst>
          </p:cNvPr>
          <p:cNvSpPr/>
          <p:nvPr/>
        </p:nvSpPr>
        <p:spPr>
          <a:xfrm>
            <a:off x="5641848" y="2962656"/>
            <a:ext cx="54864" cy="502920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5CD2448C-E001-A3E0-A303-D6C6F20C4A68}"/>
              </a:ext>
            </a:extLst>
          </p:cNvPr>
          <p:cNvSpPr/>
          <p:nvPr/>
        </p:nvSpPr>
        <p:spPr>
          <a:xfrm>
            <a:off x="5806440" y="2999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Betterment</a:t>
            </a:r>
            <a:endParaRPr lang="en-US" sz="100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CBF1FB53-3438-32EA-5C7C-A836E6C6C9B7}"/>
              </a:ext>
            </a:extLst>
          </p:cNvPr>
          <p:cNvSpPr/>
          <p:nvPr/>
        </p:nvSpPr>
        <p:spPr>
          <a:xfrm>
            <a:off x="9390888" y="2999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€3.9M  ·  10%</a:t>
            </a:r>
            <a:endParaRPr lang="en-US" sz="1000"/>
          </a:p>
        </p:txBody>
      </p:sp>
      <p:sp>
        <p:nvSpPr>
          <p:cNvPr id="47" name="Shape 19">
            <a:extLst>
              <a:ext uri="{FF2B5EF4-FFF2-40B4-BE49-F238E27FC236}">
                <a16:creationId xmlns:a16="http://schemas.microsoft.com/office/drawing/2014/main" id="{05B025AF-7537-EE6B-B959-D24FE3DF9DA1}"/>
              </a:ext>
            </a:extLst>
          </p:cNvPr>
          <p:cNvSpPr/>
          <p:nvPr/>
        </p:nvSpPr>
        <p:spPr>
          <a:xfrm>
            <a:off x="5641848" y="3621024"/>
            <a:ext cx="54864" cy="5029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22F7A6B8-E6D8-1586-FF8D-B6076BA4A67E}"/>
              </a:ext>
            </a:extLst>
          </p:cNvPr>
          <p:cNvSpPr/>
          <p:nvPr/>
        </p:nvSpPr>
        <p:spPr>
          <a:xfrm>
            <a:off x="5806440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Regulatory</a:t>
            </a:r>
            <a:endParaRPr lang="en-US" sz="100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F2453B09-1B97-6273-7CA8-56F50A20E2A4}"/>
              </a:ext>
            </a:extLst>
          </p:cNvPr>
          <p:cNvSpPr/>
          <p:nvPr/>
        </p:nvSpPr>
        <p:spPr>
          <a:xfrm>
            <a:off x="9390888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€0.7M  ·  2%</a:t>
            </a:r>
            <a:endParaRPr lang="en-US" sz="1000"/>
          </a:p>
        </p:txBody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4EC002D4-9304-D57D-EDC2-5945B2056EE1}"/>
              </a:ext>
            </a:extLst>
          </p:cNvPr>
          <p:cNvSpPr/>
          <p:nvPr/>
        </p:nvSpPr>
        <p:spPr>
          <a:xfrm>
            <a:off x="5641848" y="4480560"/>
            <a:ext cx="6172200" cy="1691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EB1BC5FD-20FB-7C42-AD2C-0C308403F70A}"/>
              </a:ext>
            </a:extLst>
          </p:cNvPr>
          <p:cNvSpPr/>
          <p:nvPr/>
        </p:nvSpPr>
        <p:spPr>
          <a:xfrm>
            <a:off x="5641848" y="4480560"/>
            <a:ext cx="36576" cy="1691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217E0B77-E10A-EA07-E7FD-AB6D8A7F8F06}"/>
              </a:ext>
            </a:extLst>
          </p:cNvPr>
          <p:cNvSpPr/>
          <p:nvPr/>
        </p:nvSpPr>
        <p:spPr>
          <a:xfrm>
            <a:off x="5779008" y="45720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BUDGET INSIGHTS</a:t>
            </a:r>
            <a:endParaRPr lang="en-US" sz="90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F64D83E3-C720-2F65-6D0E-A179C8255CD7}"/>
              </a:ext>
            </a:extLst>
          </p:cNvPr>
          <p:cNvSpPr/>
          <p:nvPr/>
        </p:nvSpPr>
        <p:spPr>
          <a:xfrm>
            <a:off x="5806440" y="480060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186 projects within budget out of 201 total, indicating solid cost control across the portfolio.</a:t>
            </a:r>
            <a:r>
              <a:rPr lang="en-US" sz="9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>
              <a:solidFill>
                <a:schemeClr val="bg1"/>
              </a:solidFill>
            </a:endParaRPr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672A368E-D94E-BD8A-7E08-25BE74DD5388}"/>
              </a:ext>
            </a:extLst>
          </p:cNvPr>
          <p:cNvSpPr/>
          <p:nvPr/>
        </p:nvSpPr>
        <p:spPr>
          <a:xfrm>
            <a:off x="5806440" y="513892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Overrun risk severity: HIGH — 12 projects are overdue and 21 delayed &gt;20%, with €9.2M exposure against €39.4M total budget (23% at risk).</a:t>
            </a:r>
            <a:r>
              <a:rPr lang="en-US" sz="9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>
              <a:solidFill>
                <a:schemeClr val="bg1"/>
              </a:solidFill>
            </a:endParaRPr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D9B82F5C-6BE7-F5E1-5780-1B1F63535D7D}"/>
              </a:ext>
            </a:extLst>
          </p:cNvPr>
          <p:cNvSpPr/>
          <p:nvPr/>
        </p:nvSpPr>
        <p:spPr>
          <a:xfrm>
            <a:off x="5806440" y="547725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Total budget exposure: €9.2M — represents the financial impact of delayed and at-risk initiatives; YTD spend is 25.6%, tracking within expected quarterly burn.</a:t>
            </a:r>
            <a:r>
              <a:rPr lang="en-US" sz="9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>
              <a:solidFill>
                <a:schemeClr val="bg1"/>
              </a:solidFill>
            </a:endParaRPr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497241CE-72C7-3B31-B7F1-16C95AFA1119}"/>
              </a:ext>
            </a:extLst>
          </p:cNvPr>
          <p:cNvSpPr/>
          <p:nvPr/>
        </p:nvSpPr>
        <p:spPr>
          <a:xfrm>
            <a:off x="5806440" y="581558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Long Term Maintenance dominates allocation at €21.5M (54% of budget), followed by Financial Performance at €13.4M (34%), leaving only €4.6M for Betterment and Safety/Regulatory combined.</a:t>
            </a:r>
            <a:r>
              <a:rPr lang="en-US" sz="9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75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63A3D-36BB-95D6-90F9-9578BA5C1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736A6A-96EA-9087-08D5-433F1CBB9EBB}"/>
              </a:ext>
            </a:extLst>
          </p:cNvPr>
          <p:cNvSpPr txBox="1"/>
          <p:nvPr/>
        </p:nvSpPr>
        <p:spPr>
          <a:xfrm>
            <a:off x="457200" y="27432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0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3</a:t>
            </a:r>
            <a:r>
              <a:rPr sz="1000" b="1">
                <a:solidFill>
                  <a:srgbClr val="000000"/>
                </a:solidFill>
                <a:latin typeface="Open Sans"/>
              </a:rPr>
              <a:t>  —  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INTERVENTION REQUIRED FROM LEADERSHIP</a:t>
            </a:r>
            <a:endParaRPr sz="1000" b="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57FC3-C244-270F-1522-E3E1BDD65421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February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3EA97-73D8-5FC7-4932-522FE3D345C0}"/>
              </a:ext>
            </a:extLst>
          </p:cNvPr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6A8173-4B7D-55EF-914D-D355B822D4CE}"/>
              </a:ext>
            </a:extLst>
          </p:cNvPr>
          <p:cNvSpPr txBox="1"/>
          <p:nvPr/>
        </p:nvSpPr>
        <p:spPr>
          <a:xfrm>
            <a:off x="457200" y="6446520"/>
            <a:ext cx="7315200" cy="15234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February 2026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F81373-53C7-349D-8E9D-765329F18449}"/>
              </a:ext>
            </a:extLst>
          </p:cNvPr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1294D-B90B-4B75-5A19-16AF0F258B90}"/>
              </a:ext>
            </a:extLst>
          </p:cNvPr>
          <p:cNvSpPr txBox="1"/>
          <p:nvPr/>
        </p:nvSpPr>
        <p:spPr>
          <a:xfrm>
            <a:off x="457200" y="685800"/>
            <a:ext cx="1124712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rPr lang="en-US"/>
              <a:t>Decisions or attention required from Leadership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049E4-A615-A697-55C7-9599C2C12632}"/>
              </a:ext>
            </a:extLst>
          </p:cNvPr>
          <p:cNvSpPr txBox="1"/>
          <p:nvPr/>
        </p:nvSpPr>
        <p:spPr>
          <a:xfrm>
            <a:off x="457200" y="109728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4 items require management attention or a leadership decision before the next reporting period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71A6A7A-3281-947F-6BC6-35F164F78141}"/>
              </a:ext>
            </a:extLst>
          </p:cNvPr>
          <p:cNvSpPr/>
          <p:nvPr/>
        </p:nvSpPr>
        <p:spPr>
          <a:xfrm>
            <a:off x="374904" y="137557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A291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1A4FC2A-1626-6A5E-4729-F8890CA3EBB5}"/>
              </a:ext>
            </a:extLst>
          </p:cNvPr>
          <p:cNvSpPr/>
          <p:nvPr/>
        </p:nvSpPr>
        <p:spPr>
          <a:xfrm>
            <a:off x="374904" y="1375570"/>
            <a:ext cx="5577840" cy="4572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7CE551E-6B45-33ED-E9B6-8B6F66047DB0}"/>
              </a:ext>
            </a:extLst>
          </p:cNvPr>
          <p:cNvSpPr/>
          <p:nvPr/>
        </p:nvSpPr>
        <p:spPr>
          <a:xfrm>
            <a:off x="512064" y="148529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|  CRITICAL  </a:t>
            </a:r>
            <a:r>
              <a:rPr lang="en-US" sz="800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DELAYED PROJECTS</a:t>
            </a:r>
            <a:endParaRPr lang="en-US" sz="80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E369BFC5-D11C-5F94-7B20-4C89913BF273}"/>
              </a:ext>
            </a:extLst>
          </p:cNvPr>
          <p:cNvSpPr/>
          <p:nvPr/>
        </p:nvSpPr>
        <p:spPr>
          <a:xfrm>
            <a:off x="512064" y="177790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recovery plans for 22 delayed projects.</a:t>
            </a:r>
            <a:endParaRPr lang="en-US" sz="110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A77935E-47E0-685D-75D4-6165BFCB956B}"/>
              </a:ext>
            </a:extLst>
          </p:cNvPr>
          <p:cNvSpPr/>
          <p:nvPr/>
        </p:nvSpPr>
        <p:spPr>
          <a:xfrm>
            <a:off x="512064" y="2491138"/>
            <a:ext cx="5303520" cy="16459"/>
          </a:xfrm>
          <a:prstGeom prst="rect">
            <a:avLst/>
          </a:prstGeom>
          <a:solidFill>
            <a:srgbClr val="D0D0CE"/>
          </a:solidFill>
          <a:ln w="1270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6ACD4550-C7E8-017D-C432-2A01BDA83119}"/>
              </a:ext>
            </a:extLst>
          </p:cNvPr>
          <p:cNvSpPr/>
          <p:nvPr/>
        </p:nvSpPr>
        <p:spPr>
          <a:xfrm>
            <a:off x="512064" y="256429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projects are significantly delayed, representing 22% of active projects. This impacts portfolio delivery timelines and requires immediate recovery planning by Q2 2026.</a:t>
            </a:r>
            <a:endParaRPr lang="en-US" sz="95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7E1A95E-90A1-9C23-4F19-90BCB5856B3F}"/>
              </a:ext>
            </a:extLst>
          </p:cNvPr>
          <p:cNvSpPr/>
          <p:nvPr/>
        </p:nvSpPr>
        <p:spPr>
          <a:xfrm>
            <a:off x="374904" y="3387250"/>
            <a:ext cx="5577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D2D60782-FF52-796B-F05E-717D84A4037F}"/>
              </a:ext>
            </a:extLst>
          </p:cNvPr>
          <p:cNvSpPr/>
          <p:nvPr/>
        </p:nvSpPr>
        <p:spPr>
          <a:xfrm>
            <a:off x="512064" y="343297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Portfolio PMO Lead  |  Target: Jun 2026</a:t>
            </a:r>
            <a:endParaRPr lang="en-US" sz="85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2D365D4C-93B1-7337-C3F1-527C3761504E}"/>
              </a:ext>
            </a:extLst>
          </p:cNvPr>
          <p:cNvSpPr/>
          <p:nvPr/>
        </p:nvSpPr>
        <p:spPr>
          <a:xfrm>
            <a:off x="6318504" y="137557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8B0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DE989317-2A69-361C-D845-CDAB9218FFC4}"/>
              </a:ext>
            </a:extLst>
          </p:cNvPr>
          <p:cNvSpPr/>
          <p:nvPr/>
        </p:nvSpPr>
        <p:spPr>
          <a:xfrm>
            <a:off x="6318504" y="1375570"/>
            <a:ext cx="5577840" cy="45720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0E14E7F1-6F61-6E4A-052A-91C4C7489F66}"/>
              </a:ext>
            </a:extLst>
          </p:cNvPr>
          <p:cNvSpPr/>
          <p:nvPr/>
        </p:nvSpPr>
        <p:spPr>
          <a:xfrm>
            <a:off x="6455664" y="148529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|  HIGH  </a:t>
            </a:r>
            <a:r>
              <a:rPr lang="en-US" sz="800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PROJECT BASELINES</a:t>
            </a:r>
            <a:endParaRPr lang="en-US" sz="80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528CFF5B-AE14-AF26-E614-FBC6F4E4C774}"/>
              </a:ext>
            </a:extLst>
          </p:cNvPr>
          <p:cNvSpPr/>
          <p:nvPr/>
        </p:nvSpPr>
        <p:spPr>
          <a:xfrm>
            <a:off x="6455664" y="177790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baselines for 58 active projects.</a:t>
            </a:r>
            <a:endParaRPr lang="en-US" sz="110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42F0B40-83EF-44D8-B21A-25E7AB9575AE}"/>
              </a:ext>
            </a:extLst>
          </p:cNvPr>
          <p:cNvSpPr/>
          <p:nvPr/>
        </p:nvSpPr>
        <p:spPr>
          <a:xfrm>
            <a:off x="6455664" y="2491138"/>
            <a:ext cx="5303520" cy="16459"/>
          </a:xfrm>
          <a:prstGeom prst="rect">
            <a:avLst/>
          </a:prstGeom>
          <a:solidFill>
            <a:srgbClr val="D0D0CE"/>
          </a:solidFill>
          <a:ln w="1270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CC9BFE8B-4E90-23B4-218C-ECA86F6D9DFA}"/>
              </a:ext>
            </a:extLst>
          </p:cNvPr>
          <p:cNvSpPr/>
          <p:nvPr/>
        </p:nvSpPr>
        <p:spPr>
          <a:xfrm>
            <a:off x="6455664" y="256429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active projects lack baselines, preventing accurate tracking and forecasting. This represents 58% of active projects and must be resolved by Q2 2026.</a:t>
            </a:r>
            <a:endParaRPr lang="en-US" sz="95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BD9867E4-B28E-F383-BF2F-380D9F66C639}"/>
              </a:ext>
            </a:extLst>
          </p:cNvPr>
          <p:cNvSpPr/>
          <p:nvPr/>
        </p:nvSpPr>
        <p:spPr>
          <a:xfrm>
            <a:off x="6318504" y="3387250"/>
            <a:ext cx="5577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480D1E4B-C36D-C614-CD4E-F3F06F7A689A}"/>
              </a:ext>
            </a:extLst>
          </p:cNvPr>
          <p:cNvSpPr/>
          <p:nvPr/>
        </p:nvSpPr>
        <p:spPr>
          <a:xfrm>
            <a:off x="6455664" y="343297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Portfolio PMO Lead  |  Target: Jun 2026</a:t>
            </a:r>
            <a:endParaRPr lang="en-US" sz="850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B3C87757-A777-3AD9-AE80-557EE4D637BD}"/>
              </a:ext>
            </a:extLst>
          </p:cNvPr>
          <p:cNvSpPr/>
          <p:nvPr/>
        </p:nvSpPr>
        <p:spPr>
          <a:xfrm>
            <a:off x="374904" y="398161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E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5A9B383D-2610-5DB5-EA8F-D77600C7733C}"/>
              </a:ext>
            </a:extLst>
          </p:cNvPr>
          <p:cNvSpPr/>
          <p:nvPr/>
        </p:nvSpPr>
        <p:spPr>
          <a:xfrm>
            <a:off x="374904" y="3981610"/>
            <a:ext cx="5577840" cy="457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B0CFF048-F05E-D826-0678-9B102B47D968}"/>
              </a:ext>
            </a:extLst>
          </p:cNvPr>
          <p:cNvSpPr/>
          <p:nvPr/>
        </p:nvSpPr>
        <p:spPr>
          <a:xfrm>
            <a:off x="512064" y="409133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|  MEDIUM  </a:t>
            </a:r>
            <a:r>
              <a:rPr lang="en-US" sz="800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BUDGET EXPOSURE</a:t>
            </a:r>
            <a:endParaRPr lang="en-US" sz="80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355EF148-356B-2709-ED18-37D9E5204A11}"/>
              </a:ext>
            </a:extLst>
          </p:cNvPr>
          <p:cNvSpPr/>
          <p:nvPr/>
        </p:nvSpPr>
        <p:spPr>
          <a:xfrm>
            <a:off x="512064" y="438394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weekly monitoring of €5.9M exposure.</a:t>
            </a:r>
            <a:endParaRPr lang="en-US" sz="1100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B43594FB-4E20-AF62-EE0F-F943361B5D31}"/>
              </a:ext>
            </a:extLst>
          </p:cNvPr>
          <p:cNvSpPr/>
          <p:nvPr/>
        </p:nvSpPr>
        <p:spPr>
          <a:xfrm>
            <a:off x="512064" y="5097178"/>
            <a:ext cx="5303520" cy="16459"/>
          </a:xfrm>
          <a:prstGeom prst="rect">
            <a:avLst/>
          </a:prstGeom>
          <a:solidFill>
            <a:srgbClr val="D0D0CE"/>
          </a:solidFill>
          <a:ln w="1270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D28E5AC2-CD8D-EF29-DEA9-272CA3E5B7E2}"/>
              </a:ext>
            </a:extLst>
          </p:cNvPr>
          <p:cNvSpPr/>
          <p:nvPr/>
        </p:nvSpPr>
        <p:spPr>
          <a:xfrm>
            <a:off x="512064" y="517033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RAG items, including 4 flagged for overrun risk, contribute to €5.9M budget exposure. Strong fiscal discipline is needed to maintain 96% budget adherence.</a:t>
            </a:r>
            <a:endParaRPr lang="en-US" sz="95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3F59B11F-5D3F-5F4A-A258-ED80DA0BC814}"/>
              </a:ext>
            </a:extLst>
          </p:cNvPr>
          <p:cNvSpPr/>
          <p:nvPr/>
        </p:nvSpPr>
        <p:spPr>
          <a:xfrm>
            <a:off x="374904" y="5975002"/>
            <a:ext cx="5577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88C9CD42-C64F-2707-1030-7B0104DB8BC1}"/>
              </a:ext>
            </a:extLst>
          </p:cNvPr>
          <p:cNvSpPr/>
          <p:nvPr/>
        </p:nvSpPr>
        <p:spPr>
          <a:xfrm>
            <a:off x="512064" y="603901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Finance &amp; Control  |  Target: Dec 2026</a:t>
            </a:r>
            <a:endParaRPr lang="en-US" sz="85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72CCA9C2-860D-8A63-32DE-6548A27AA6A7}"/>
              </a:ext>
            </a:extLst>
          </p:cNvPr>
          <p:cNvSpPr/>
          <p:nvPr/>
        </p:nvSpPr>
        <p:spPr>
          <a:xfrm>
            <a:off x="6318504" y="398161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86BC2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F439CB76-DA68-B5BA-59A3-5191837EF9B7}"/>
              </a:ext>
            </a:extLst>
          </p:cNvPr>
          <p:cNvSpPr/>
          <p:nvPr/>
        </p:nvSpPr>
        <p:spPr>
          <a:xfrm>
            <a:off x="6318504" y="3981610"/>
            <a:ext cx="5577840" cy="4572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7CC68FF7-FB3B-C649-9EE4-4A7484080D1B}"/>
              </a:ext>
            </a:extLst>
          </p:cNvPr>
          <p:cNvSpPr/>
          <p:nvPr/>
        </p:nvSpPr>
        <p:spPr>
          <a:xfrm>
            <a:off x="6455664" y="409133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 |  LOW  </a:t>
            </a:r>
            <a:r>
              <a:rPr lang="en-US" sz="800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TURBINE INSPECTION</a:t>
            </a:r>
            <a:endParaRPr lang="en-US" sz="800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7F93185D-0B3F-6D7B-C184-588EBEC9C502}"/>
              </a:ext>
            </a:extLst>
          </p:cNvPr>
          <p:cNvSpPr/>
          <p:nvPr/>
        </p:nvSpPr>
        <p:spPr>
          <a:xfrm>
            <a:off x="6455664" y="438394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root-cause review for turbine delays.</a:t>
            </a:r>
            <a:endParaRPr lang="en-US" sz="1100"/>
          </a:p>
        </p:txBody>
      </p:sp>
      <p:sp>
        <p:nvSpPr>
          <p:cNvPr id="57" name="Shape 38">
            <a:extLst>
              <a:ext uri="{FF2B5EF4-FFF2-40B4-BE49-F238E27FC236}">
                <a16:creationId xmlns:a16="http://schemas.microsoft.com/office/drawing/2014/main" id="{4E6CD41E-D924-A505-3200-2562E43AF761}"/>
              </a:ext>
            </a:extLst>
          </p:cNvPr>
          <p:cNvSpPr/>
          <p:nvPr/>
        </p:nvSpPr>
        <p:spPr>
          <a:xfrm>
            <a:off x="6455664" y="5097178"/>
            <a:ext cx="5303520" cy="16459"/>
          </a:xfrm>
          <a:prstGeom prst="rect">
            <a:avLst/>
          </a:prstGeom>
          <a:solidFill>
            <a:srgbClr val="D0D0CE"/>
          </a:solidFill>
          <a:ln w="1270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39">
            <a:extLst>
              <a:ext uri="{FF2B5EF4-FFF2-40B4-BE49-F238E27FC236}">
                <a16:creationId xmlns:a16="http://schemas.microsoft.com/office/drawing/2014/main" id="{765FA678-4A1F-759B-89AC-CD9F262ECAAE}"/>
              </a:ext>
            </a:extLst>
          </p:cNvPr>
          <p:cNvSpPr/>
          <p:nvPr/>
        </p:nvSpPr>
        <p:spPr>
          <a:xfrm>
            <a:off x="6455664" y="517033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Steam Turbine Major Inspection is only 5% complete with a €4.5M budget at risk. Accelerating execution by Q1 2027 will mitigate further delays.</a:t>
            </a:r>
            <a:endParaRPr lang="en-US" sz="950"/>
          </a:p>
        </p:txBody>
      </p:sp>
      <p:sp>
        <p:nvSpPr>
          <p:cNvPr id="59" name="Shape 40">
            <a:extLst>
              <a:ext uri="{FF2B5EF4-FFF2-40B4-BE49-F238E27FC236}">
                <a16:creationId xmlns:a16="http://schemas.microsoft.com/office/drawing/2014/main" id="{B790BF34-FD34-8B71-362E-3207EC4A964D}"/>
              </a:ext>
            </a:extLst>
          </p:cNvPr>
          <p:cNvSpPr/>
          <p:nvPr/>
        </p:nvSpPr>
        <p:spPr>
          <a:xfrm>
            <a:off x="6318504" y="5993290"/>
            <a:ext cx="5577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1">
            <a:extLst>
              <a:ext uri="{FF2B5EF4-FFF2-40B4-BE49-F238E27FC236}">
                <a16:creationId xmlns:a16="http://schemas.microsoft.com/office/drawing/2014/main" id="{13BAF32E-B659-AE5A-B1B0-B3F4874D05AC}"/>
              </a:ext>
            </a:extLst>
          </p:cNvPr>
          <p:cNvSpPr/>
          <p:nvPr/>
        </p:nvSpPr>
        <p:spPr>
          <a:xfrm>
            <a:off x="6455664" y="603901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Thessaloniki  |  Target: Jan 2027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2062819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0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4</a:t>
            </a:r>
            <a:r>
              <a:rPr sz="1000" b="1">
                <a:solidFill>
                  <a:srgbClr val="000000"/>
                </a:solidFill>
                <a:latin typeface="Open Sans"/>
              </a:rPr>
              <a:t>  —  PROJECTS AT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t>Projects at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Top 5 flagged projects needing decisions (€5.9M combined exposure across all 13 Red/Amber). Full list in Appendix.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Project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Target Go-Live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CY Budget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Progress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Highlights &amp; Action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3D HRSG Scanning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Technical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Dec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€0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0% complete · €0 budget · Action: Confirm scope and start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Steam Turbine Major Inspection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Jan 2027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€4.5M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 complete · €4.5M · target Jan 2027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Steam Turbine Generator complete rewinding (stator and rotor)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Dec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€3.0M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 complete · €3.0M · target Dec 2026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TIL001121 Auto Tune System Installation at Thisvi Plant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Thisvi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€500k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 complete · €500k · target TBD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Replacement of High Pressure (HP) and Hot Reheat (HRH) Steam turbine valves.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Feb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€360k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 complete · €360k · target Feb 2026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00" b="0" i="1">
                <a:solidFill>
                  <a:srgbClr val="999999"/>
                </a:solidFill>
                <a:latin typeface="Open Sans Light"/>
              </a:defRPr>
            </a:pPr>
            <a:r>
              <a:t>+ 8 additional Red/Amber projects (2 data quality issues + 6 nearing completion) — see Appendix A.1 for full 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February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98745-C4AD-036C-301E-6AE5FF9E21F8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February 2026</a:t>
            </a:r>
          </a:p>
        </p:txBody>
      </p:sp>
    </p:spTree>
    <p:extLst>
      <p:ext uri="{BB962C8B-B14F-4D97-AF65-F5344CB8AC3E}">
        <p14:creationId xmlns:p14="http://schemas.microsoft.com/office/powerpoint/2010/main" val="49509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0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5</a:t>
            </a:r>
            <a:r>
              <a:rPr sz="1000" b="1">
                <a:solidFill>
                  <a:srgbClr val="000000"/>
                </a:solidFill>
                <a:latin typeface="Open Sans"/>
              </a:rPr>
              <a:t>  —  KEY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t>Key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Issues requiring management attention and recommended next steps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Description / Impact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Severity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Mitigation Action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Schedule Slippage Risk - 21 activities delayed &gt;20% with 81% schedule performance indicates accelerating delays. Portfolio at risk of missing Q2 2026 milestones.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Implement weekly schedule recovery reviews; allocate 2.5% contingency buffer (€985k) from total budget to critical path activities; resource reallocation from pending to delayed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Schedule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2026-04-30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Budget Baseline Deficiency - 57 activities (28% of portfolio) lack approved baselines creating cost control blind spots. YTD spend at 25.6% (€10.1M) with incomplete variance tracking.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Mandate baseline completion for all 57 activities by end February 2026; implement automated validation gates; conduct cost estimation workshop for high-exposure items (€9.2M exposure)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Cost Controller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2026-02-28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Portfolio Health Deterioration - 12 overdue items, 12 RAG red-flagged activities, and 101 pending activities (50% of total) suggest execution capacity constraints and delivery risk.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Escalate 12 RAG-red items to steering committee; resolve overdue activities within 10 days; conduct resource capacity analysis; consolidate pending workload; establish daily tracking for red items through Q2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Portfolio Director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2026-03-31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00" b="0">
                <a:solidFill>
                  <a:srgbClr val="53565A"/>
                </a:solidFill>
                <a:latin typeface="Open Sans Light"/>
              </a:defRPr>
            </a:pPr>
            <a:r>
              <a:rPr sz="800" b="1">
                <a:solidFill>
                  <a:srgbClr val="53565A"/>
                </a:solidFill>
                <a:latin typeface="Open Sans"/>
              </a:rPr>
              <a:t>Type: </a:t>
            </a:r>
            <a:r>
              <a:rPr sz="900" b="1">
                <a:solidFill>
                  <a:srgbClr val="DA291C"/>
                </a:solidFill>
                <a:latin typeface="Open Sans"/>
              </a:rPr>
              <a:t>I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= Issue     </a:t>
            </a:r>
            <a:r>
              <a:rPr sz="900" b="1">
                <a:solidFill>
                  <a:srgbClr val="ED8B00"/>
                </a:solidFill>
                <a:latin typeface="Open Sans"/>
              </a:rPr>
              <a:t>R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=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February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E4635-F93A-939A-0171-2942118953CC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February 2026</a:t>
            </a:r>
          </a:p>
        </p:txBody>
      </p:sp>
    </p:spTree>
    <p:extLst>
      <p:ext uri="{BB962C8B-B14F-4D97-AF65-F5344CB8AC3E}">
        <p14:creationId xmlns:p14="http://schemas.microsoft.com/office/powerpoint/2010/main" val="141864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APPENDIX A.1  —  RED &amp; AMBER FULL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Open Sans Light"/>
              </a:defRPr>
            </a:pPr>
            <a:r>
              <a:t>Red &amp; Amber Full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All 13 projects with Red or Amber RAG status including highlights and recommended actions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Project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Go-Live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Budget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Highlights / Action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3D HRSG Scanning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Technical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Dec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0% complete · €0 budget · Action: Confirm scope and start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2025-00127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Steam Turbine Major Inspection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Jan 2027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€4.5M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 complete · €4.5M · target Jan 2027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Steam Turbine Generator complete rewinding (stator and rotor)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Dec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€3.0M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 complete · €3.0M · target Dec 2026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2025-00164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TIL001121 Auto Tune System Installation at Thisvi Plant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Thisvi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€500k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 complete · €500k · target TBD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Replacement of High Pressure (HP) and Hot Reheat (HRH) Steam turbine valves.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Feb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€360k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 complete · €360k · target Feb 2026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2025-00067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DERMS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ENMA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€265k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 complete · €265k · target TBD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 Hydraulic Pumps Replacement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Thisvi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€168k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 complete · €168k · target TBD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2025-00113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HRSG HRH Vent stop valve replacement &amp; part of pipeline replacement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€115k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 complete · €115k · target TBD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Fuel Gas AGI Flow computer and flow meters replacement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€110k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80% complete · €110k budget · Action: Push to closeout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2025-00157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Evaporative Cooling Tower (ECT) supply &amp; installation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Thisvi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Dec 2025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€60k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 complete · €60k · target Dec 2025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 Lube oil mist eliminator upgrade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€57k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70% complete · €57k · target TBD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2025-00156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Addition of oil moisture analyser in GT &amp; ST lube oil tanks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Thisvi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€30k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20% complete · €30k · target TBD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February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29CE9-01ED-F857-05A3-937F1F30D09A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February 2026</a:t>
            </a:r>
          </a:p>
        </p:txBody>
      </p:sp>
    </p:spTree>
    <p:extLst>
      <p:ext uri="{BB962C8B-B14F-4D97-AF65-F5344CB8AC3E}">
        <p14:creationId xmlns:p14="http://schemas.microsoft.com/office/powerpoint/2010/main" val="168649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APPENDIX A.2  —  PROJECT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Open Sans Light"/>
              </a:defRPr>
            </a:pPr>
            <a:r>
              <a:t>Project Timeline 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13 Red/Amber projects mapped on a 2025–2026 monthly timeline (% = current completion)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Project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J25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J26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 Hydraulic Pumps Repla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myElpedison Redesign/Rel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3D HRSG Scanning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Strategic spare parts  (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Steam Turbine Major Insp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TIL001121 Auto Tune Syst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Replacement of High Pres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HRSG HRH Vent stop valve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Fuel Gas AGI Flow comput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Evaporative Cooling Towe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 Lube oil mist elimina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Addition of oil moisture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00" b="0">
                <a:solidFill>
                  <a:srgbClr val="53565A"/>
                </a:solidFill>
                <a:latin typeface="Open Sans Light"/>
              </a:defRPr>
            </a:pPr>
            <a:r>
              <a:rPr sz="800" b="1">
                <a:solidFill>
                  <a:srgbClr val="1A1A1A"/>
                </a:solidFill>
                <a:latin typeface="Open Sans"/>
              </a:rPr>
              <a:t>Legend:  </a:t>
            </a:r>
            <a:r>
              <a:rPr sz="1000" b="1">
                <a:solidFill>
                  <a:srgbClr val="43B02A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Green   </a:t>
            </a:r>
            <a:r>
              <a:rPr sz="1000" b="1">
                <a:solidFill>
                  <a:srgbClr val="ED8B00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Amber   </a:t>
            </a:r>
            <a:r>
              <a:rPr sz="1000" b="1">
                <a:solidFill>
                  <a:srgbClr val="DA291C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Red   Solid = completed  •  Light = planned  •  Today: Jan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February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0ABAFD-C8E0-1185-BFF9-A8B258BDB84D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February 2026</a:t>
            </a:r>
          </a:p>
        </p:txBody>
      </p:sp>
    </p:spTree>
    <p:extLst>
      <p:ext uri="{BB962C8B-B14F-4D97-AF65-F5344CB8AC3E}">
        <p14:creationId xmlns:p14="http://schemas.microsoft.com/office/powerpoint/2010/main" val="3380602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APPENDIX A.2  —  PROJECT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Open Sans Light"/>
              </a:defRPr>
            </a:pPr>
            <a:r>
              <a:t>Project Timeline 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13 Red/Amber projects mapped on a 2025–2026 monthly timeline (% = current completion)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Project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J25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J26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Desuperheaters replaceme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00" b="0">
                <a:solidFill>
                  <a:srgbClr val="53565A"/>
                </a:solidFill>
                <a:latin typeface="Open Sans Light"/>
              </a:defRPr>
            </a:pPr>
            <a:r>
              <a:rPr sz="800" b="1">
                <a:solidFill>
                  <a:srgbClr val="1A1A1A"/>
                </a:solidFill>
                <a:latin typeface="Open Sans"/>
              </a:rPr>
              <a:t>Legend:  </a:t>
            </a:r>
            <a:r>
              <a:rPr sz="1000" b="1">
                <a:solidFill>
                  <a:srgbClr val="43B02A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Green   </a:t>
            </a:r>
            <a:r>
              <a:rPr sz="1000" b="1">
                <a:solidFill>
                  <a:srgbClr val="ED8B00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Amber   </a:t>
            </a:r>
            <a:r>
              <a:rPr sz="1000" b="1">
                <a:solidFill>
                  <a:srgbClr val="DA291C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Red   Solid = completed  •  Light = planned  •  Today: Jan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February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0ABAFD-C8E0-1185-BFF9-A8B258BDB84D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February 2026</a:t>
            </a:r>
          </a:p>
        </p:txBody>
      </p:sp>
    </p:spTree>
    <p:extLst>
      <p:ext uri="{BB962C8B-B14F-4D97-AF65-F5344CB8AC3E}">
        <p14:creationId xmlns:p14="http://schemas.microsoft.com/office/powerpoint/2010/main" val="33806022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D 2021 Theme Colors KN">
  <a:themeElements>
    <a:clrScheme name="Custom 1">
      <a:dk1>
        <a:sysClr val="windowText" lastClr="000000"/>
      </a:dk1>
      <a:lt1>
        <a:sysClr val="window" lastClr="FFFFFF"/>
      </a:lt1>
      <a:dk2>
        <a:srgbClr val="D0D0CE"/>
      </a:dk2>
      <a:lt2>
        <a:srgbClr val="53565A"/>
      </a:lt2>
      <a:accent1>
        <a:srgbClr val="E3E48D"/>
      </a:accent1>
      <a:accent2>
        <a:srgbClr val="A0DCFF"/>
      </a:accent2>
      <a:accent3>
        <a:srgbClr val="9DD4CF"/>
      </a:accent3>
      <a:accent4>
        <a:srgbClr val="62B5E5"/>
      </a:accent4>
      <a:accent5>
        <a:srgbClr val="6FC2B4"/>
      </a:accent5>
      <a:accent6>
        <a:srgbClr val="00ABAB"/>
      </a:accent6>
      <a:hlink>
        <a:srgbClr val="9DD4CF"/>
      </a:hlink>
      <a:folHlink>
        <a:srgbClr val="9DD4CF"/>
      </a:folHlink>
    </a:clrScheme>
    <a:fontScheme name="Custom 3">
      <a:majorFont>
        <a:latin typeface="Open Sans Ligh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0" tIns="0" rIns="0" bIns="0" rtlCol="0" anchor="ctr"/>
      <a:lstStyle/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>
          <a:spcBef>
            <a:spcPts val="600"/>
          </a:spcBef>
          <a:buSzPct val="100000"/>
          <a:defRPr sz="1200" dirty="0">
            <a:highlight>
              <a:srgbClr val="FFFF00"/>
            </a:highlight>
          </a:defRPr>
        </a:defPPr>
      </a:lstStyle>
    </a:txDef>
  </a:objectDefaults>
  <a:extraClrSchemeLst/>
  <a:custClrLst>
    <a:custClr name="Blue 3">
      <a:srgbClr val="00A3E0"/>
    </a:custClr>
    <a:custClr name="Green 5">
      <a:srgbClr val="009A44"/>
    </a:custClr>
    <a:custClr name="Green 6">
      <a:srgbClr val="046A38"/>
    </a:custClr>
    <a:custClr name="Deloitte Green">
      <a:srgbClr val="86BC25"/>
    </a:custClr>
  </a:custClrLst>
  <a:extLst>
    <a:ext uri="{05A4C25C-085E-4340-85A3-A5531E510DB2}">
      <thm15:themeFamily xmlns:thm15="http://schemas.microsoft.com/office/thememl/2012/main" name="DD 2021 Theme Colors KN" id="{93D8CFC8-2B43-3247-BE79-DCDD4FA900DF}" vid="{F8E4500E-2F27-3440-ABE2-055120521E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9A1CEBEA46A245B26FC5DA2805533E" ma:contentTypeVersion="14" ma:contentTypeDescription="Create a new document." ma:contentTypeScope="" ma:versionID="88b38cf33fc0fecfe505b7db2252c1d6">
  <xsd:schema xmlns:xsd="http://www.w3.org/2001/XMLSchema" xmlns:xs="http://www.w3.org/2001/XMLSchema" xmlns:p="http://schemas.microsoft.com/office/2006/metadata/properties" xmlns:ns2="2cf2ac51-7801-44e1-9a2c-a4fd08f74e20" xmlns:ns3="9b768522-c477-4d57-b9d3-fed3ec356dcc" targetNamespace="http://schemas.microsoft.com/office/2006/metadata/properties" ma:root="true" ma:fieldsID="12236ce41e3d0b8b472c21bbcda32ec6" ns2:_="" ns3:_="">
    <xsd:import namespace="2cf2ac51-7801-44e1-9a2c-a4fd08f74e20"/>
    <xsd:import namespace="9b768522-c477-4d57-b9d3-fed3ec356d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Person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f2ac51-7801-44e1-9a2c-a4fd08f74e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Person" ma:index="21" ma:displayName="Perso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768522-c477-4d57-b9d3-fed3ec356dc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243c83-12b6-4e9f-ba95-3411fdf7570d}" ma:internalName="TaxCatchAll" ma:showField="CatchAllData" ma:web="9b768522-c477-4d57-b9d3-fed3ec356d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f2ac51-7801-44e1-9a2c-a4fd08f74e20">
      <Terms xmlns="http://schemas.microsoft.com/office/infopath/2007/PartnerControls"/>
    </lcf76f155ced4ddcb4097134ff3c332f>
    <TaxCatchAll xmlns="9b768522-c477-4d57-b9d3-fed3ec356dcc" xsi:nil="true"/>
    <Person xmlns="2cf2ac51-7801-44e1-9a2c-a4fd08f74e20">
      <UserInfo>
        <DisplayName/>
        <AccountId/>
        <AccountType/>
      </UserInfo>
    </Person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4700A1-EE32-4024-AE62-4B1A7AA9D34B}"/>
</file>

<file path=customXml/itemProps2.xml><?xml version="1.0" encoding="utf-8"?>
<ds:datastoreItem xmlns:ds="http://schemas.openxmlformats.org/officeDocument/2006/customXml" ds:itemID="{438E19D0-DA95-41F6-A13D-1338DD558699}">
  <ds:schemaRefs>
    <ds:schemaRef ds:uri="http://schemas.microsoft.com/office/infopath/2007/PartnerControls"/>
    <ds:schemaRef ds:uri="f1088b7c-28b6-4a81-95cc-bf017e90b0ba"/>
    <ds:schemaRef ds:uri="aa389faf-bf0a-49e9-ac51-d2ad4ee8163e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86356DF-A8AF-4440-9D70-2AE5C7F3C38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1776</Words>
  <Application>Microsoft Office PowerPoint</Application>
  <PresentationFormat>Widescreen</PresentationFormat>
  <Paragraphs>383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DD 2021 Theme Colors KN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Liu, Leanne</dc:creator>
  <cp:lastModifiedBy>Tsimogiannis Grigorios</cp:lastModifiedBy>
  <cp:revision>6</cp:revision>
  <dcterms:created xsi:type="dcterms:W3CDTF">2023-07-11T11:24:56Z</dcterms:created>
  <dcterms:modified xsi:type="dcterms:W3CDTF">2026-04-25T06:07:35Z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2023-07-11T11:24:58Z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6428ac9f-0ef8-4909-bcf9-a27d67c20668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0x0101003E9A1CEBEA46A245B26FC5DA2805533E</vt:lpwstr>
  </property>
  <property fmtid="{D5CDD505-2E9C-101B-9397-08002B2CF9AE}" pid="10" name="MediaServiceImageTags">
    <vt:lpwstr/>
  </property>
</Properties>
</file>