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14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1440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6BC25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554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Aptos"/>
              </a:rPr>
              <a:t>Project Portfolio</a:t>
            </a:r>
            <a:r>
              <a:rPr sz="60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86BC25"/>
                </a:solidFill>
                <a:latin typeface="Aptos"/>
              </a:defRPr>
            </a:pPr>
            <a:r>
              <a:t>Executive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566928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tos"/>
              </a:defRPr>
            </a:pPr>
            <a:r>
              <a:t>Reporting period · February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8869680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AI-GENERATED EXECUTIVE REPORTING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9235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Aptos"/>
              </a:defRPr>
            </a:pPr>
            <a:r>
              <a:t>Written, designed and self-reviewed by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02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01 · PORTFOLIO SNAPSHOT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Portfolio Snapshot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98 active projects · 12 flagged · €9.2M exposure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00B050"/>
                </a:solidFill>
                <a:latin typeface="Aptos"/>
              </a:defRPr>
            </a:pPr>
            <a:r>
              <a:t>201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Total 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98 active · 101 pending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88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5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00B050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9975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5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lifetime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17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8975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C0000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Overdue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12% of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46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146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37976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00B050"/>
                </a:solidFill>
                <a:latin typeface="Aptos"/>
              </a:defRPr>
            </a:pPr>
            <a:r>
              <a:t>€39.4M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7976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Committed budget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7976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€21.5M active · €18.0M pending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75536" y="3566160"/>
            <a:ext cx="3310128" cy="169164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575536" y="3566160"/>
            <a:ext cx="3310128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66976" y="3767328"/>
            <a:ext cx="312724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300" b="1">
                <a:solidFill>
                  <a:srgbClr val="ED8B00"/>
                </a:solidFill>
                <a:latin typeface="Aptos"/>
              </a:defRPr>
            </a:pPr>
            <a:r>
              <a:t>25.6%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66976" y="452628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C1C1C"/>
                </a:solidFill>
                <a:latin typeface="Aptos"/>
              </a:defRPr>
            </a:pPr>
            <a:r>
              <a:t>YTD Spend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66976" y="482803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75787B"/>
                </a:solidFill>
                <a:latin typeface="Aptos"/>
              </a:defRPr>
            </a:pPr>
            <a:r>
              <a:t>€10.1M of €39.4M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9536" y="5577840"/>
            <a:ext cx="8229600" cy="2743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9536" y="5577840"/>
            <a:ext cx="8229600" cy="4572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0704" y="574243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890D"/>
                </a:solidFill>
                <a:latin typeface="Aptos"/>
              </a:defRPr>
            </a:pPr>
            <a:r>
              <a:t>SCHEDULE HEALTH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" y="6172200"/>
            <a:ext cx="7863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B050"/>
                </a:solidFill>
                <a:latin typeface="Aptos"/>
              </a:rPr>
              <a:t>  19  </a:t>
            </a:r>
            <a:r>
              <a:rPr sz="1500" b="0">
                <a:solidFill>
                  <a:srgbClr val="53565A"/>
                </a:solidFill>
                <a:latin typeface="Aptos"/>
              </a:rPr>
              <a:t>On Track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D8B00"/>
                </a:solidFill>
                <a:latin typeface="Aptos"/>
              </a:rPr>
              <a:t>   1  </a:t>
            </a:r>
            <a:r>
              <a:rPr sz="1500" b="0">
                <a:solidFill>
                  <a:srgbClr val="53565A"/>
                </a:solidFill>
                <a:latin typeface="Aptos"/>
              </a:rPr>
              <a:t>Delayed ≤20%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0000"/>
                </a:solidFill>
                <a:latin typeface="Aptos"/>
              </a:rPr>
              <a:t>  21  </a:t>
            </a:r>
            <a:r>
              <a:rPr sz="1500" b="0">
                <a:solidFill>
                  <a:srgbClr val="53565A"/>
                </a:solidFill>
                <a:latin typeface="Aptos"/>
              </a:rPr>
              <a:t>Delayed &gt;20%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999999"/>
                </a:solidFill>
                <a:latin typeface="Aptos"/>
              </a:rPr>
              <a:t>  57  </a:t>
            </a:r>
            <a:r>
              <a:rPr sz="1500" b="0">
                <a:solidFill>
                  <a:srgbClr val="53565A"/>
                </a:solidFill>
                <a:latin typeface="Aptos"/>
              </a:rPr>
              <a:t>No Baseline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53728" y="5577840"/>
            <a:ext cx="8174736" cy="2743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3728" y="5577840"/>
            <a:ext cx="8174736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4896" y="574243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890D"/>
                </a:solidFill>
                <a:latin typeface="Aptos"/>
              </a:defRPr>
            </a:pPr>
            <a:r>
              <a:t>KEY TAKEAWAY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54896" y="617220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53565A"/>
                </a:solidFill>
                <a:latin typeface="Aptos"/>
              </a:defRPr>
            </a:pPr>
            <a:r>
              <a:t>Portfolio at inflection point: 12 CRITICAL risks demand immediate intervention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3565A"/>
                </a:solidFill>
                <a:latin typeface="Aptos"/>
              </a:defRPr>
            </a:pPr>
            <a:r>
              <a:t>€9.2M exposure against €39.4M budget (23.4% utilization) masks underlying volatility. Twelve overdue items and 21 delayed projects (&gt;20% schedule slip) signal execution gaps despite 81% schedule adherence baseline. YTD spend of 25.6% indicates potential Q1 catch-up pressure.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3565A"/>
                </a:solidFill>
                <a:latin typeface="Aptos"/>
              </a:defRPr>
            </a:pPr>
            <a:r>
              <a:t>Immediate action required: Escalate 12 RED-flagged projects to steering committee within 72 hours. Implement daily standup for delayed cohort (21 items). Reallocate €2.1M from pending pipeline to de-risk critical path and close baseline gaps affecting 57 initiatives.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03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02 · DEEP DIVE: SCHEDULE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Schedule Health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Schedule distribution across 98 active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On Track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4176" y="3858768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94176" y="3858768"/>
            <a:ext cx="1950097" cy="45720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35455" y="384048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892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Delayed ≤20%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4910327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94176" y="4910327"/>
            <a:ext cx="137160" cy="45720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35455" y="489204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Delayed &gt;20%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5961888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94176" y="5961888"/>
            <a:ext cx="2155371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35455" y="594360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995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No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94176" y="7013448"/>
            <a:ext cx="10058400" cy="4572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4176" y="7013448"/>
            <a:ext cx="5850293" cy="457200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35455" y="699516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Aptos"/>
              </a:defRPr>
            </a:pPr>
            <a:r>
              <a:t>57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356080" y="3840480"/>
            <a:ext cx="3072384" cy="4297680"/>
          </a:xfrm>
          <a:prstGeom prst="rect">
            <a:avLst/>
          </a:prstGeom>
          <a:solidFill>
            <a:srgbClr val="1C3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356080" y="3840480"/>
            <a:ext cx="3072384" cy="4572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557248" y="40233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6BC25"/>
                </a:solidFill>
                <a:latin typeface="Aptos"/>
              </a:defRPr>
            </a:pPr>
            <a:r>
              <a:t>KEY SCHEDULE RISKS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57248" y="4480560"/>
            <a:ext cx="2697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250" b="0">
                <a:solidFill>
                  <a:srgbClr val="FFFFFF"/>
                </a:solidFill>
                <a:latin typeface="Aptos"/>
              </a:defRPr>
            </a:pPr>
            <a:r>
              <a:t>— Schedule Health at 81% with 21 activities delayed &gt;20% and 12 overdue tasks (HIGH severity) — impacts 39.4€M budget baseline</a:t>
            </a:r>
          </a:p>
          <a:p>
            <a:pPr algn="l">
              <a:spcAft>
                <a:spcPts val="1000"/>
              </a:spcAft>
              <a:defRPr sz="1250" b="0">
                <a:solidFill>
                  <a:srgbClr val="FFFFFF"/>
                </a:solidFill>
                <a:latin typeface="Aptos"/>
              </a:defRPr>
            </a:pPr>
            <a:r>
              <a:t>— 57 activities lack defined baselines (MEDIUM severity) — prevents accurate schedule performance tracking and variance analysis</a:t>
            </a:r>
          </a:p>
          <a:p>
            <a:pPr algn="l">
              <a:spcAft>
                <a:spcPts val="1000"/>
              </a:spcAft>
              <a:defRPr sz="1250" b="0">
                <a:solidFill>
                  <a:srgbClr val="FFFFFF"/>
                </a:solidFill>
                <a:latin typeface="Aptos"/>
              </a:defRPr>
            </a:pPr>
            <a:r>
              <a:t>— 9.2€M exposure identified against 39.4€M total budget with 25.6% YTD spend (MEDIUM severity) — 101 pending tasks at risk of further delays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04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03 · DEEP DIVE: BUDGET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Budget Health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FY budget distribution by category · €39.4M committed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0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Long Term Maintenance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056" y="3858768"/>
            <a:ext cx="8229600" cy="45720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89536" y="384048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€21.5M  ·  54%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892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Financial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77056" y="4910327"/>
            <a:ext cx="5181600" cy="457200"/>
          </a:xfrm>
          <a:prstGeom prst="rect">
            <a:avLst/>
          </a:prstGeom>
          <a:solidFill>
            <a:srgbClr val="5A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1535" y="489204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€13.4M  ·  34%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5943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Betterment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77056" y="5961888"/>
            <a:ext cx="1524000" cy="45720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3936" y="594360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€3.9M  ·  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6995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1C1C"/>
                </a:solidFill>
                <a:latin typeface="Aptos"/>
              </a:defRPr>
            </a:pPr>
            <a:r>
              <a:t>Safety / Regulatory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77056" y="7013448"/>
            <a:ext cx="304800" cy="457200"/>
          </a:xfrm>
          <a:prstGeom prst="rect">
            <a:avLst/>
          </a:prstGeom>
          <a:solidFill>
            <a:srgbClr val="00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4736" y="699516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C1C1C"/>
                </a:solidFill>
                <a:latin typeface="Aptos"/>
              </a:defRPr>
            </a:pPr>
            <a:r>
              <a:t>€0.7M  ·  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161520" y="3840480"/>
            <a:ext cx="5266944" cy="429768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161520" y="3840480"/>
            <a:ext cx="5266944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62688" y="40233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890D"/>
                </a:solidFill>
                <a:latin typeface="Aptos"/>
              </a:defRPr>
            </a:pPr>
            <a:r>
              <a:t>BUDGET INSIGHTS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62688" y="4526280"/>
            <a:ext cx="4892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186 projects within budget</a:t>
            </a:r>
            <a:r>
              <a:rPr sz="1250" b="0">
                <a:solidFill>
                  <a:srgbClr val="53565A"/>
                </a:solidFill>
                <a:latin typeface="Aptos"/>
              </a:rPr>
              <a:t> out of 201 total, indicating solid cost control across the portfolio.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Overrun risk severity: HIGH</a:t>
            </a:r>
            <a:r>
              <a:rPr sz="1250" b="0">
                <a:solidFill>
                  <a:srgbClr val="53565A"/>
                </a:solidFill>
                <a:latin typeface="Aptos"/>
              </a:rPr>
              <a:t> — 12 projects are overdue and 21 delayed &gt;20%, with €9.2M exposure against €39.4M total budget (23% at risk).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Total budget exposure: €9.2M</a:t>
            </a:r>
            <a:r>
              <a:rPr sz="1250" b="0">
                <a:solidFill>
                  <a:srgbClr val="53565A"/>
                </a:solidFill>
                <a:latin typeface="Aptos"/>
              </a:rPr>
              <a:t> — represents the financial impact of delayed and at-risk initiatives; YTD spend is 25.6%, tracking within expected quarterly burn.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1C1C1C"/>
                </a:solidFill>
                <a:latin typeface="Aptos"/>
              </a:rPr>
              <a:t>Long Term Maintenance dominates allocation</a:t>
            </a:r>
            <a:r>
              <a:rPr sz="1250" b="0">
                <a:solidFill>
                  <a:srgbClr val="53565A"/>
                </a:solidFill>
                <a:latin typeface="Aptos"/>
              </a:rPr>
              <a:t> at €21.5M (54% of budget), followed by Financial Performance at €13.4M (34%), leaving only €4.6M for Betterment and Safety/Regulatory combined.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05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04 · LEADERSHIP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Leadership Decisions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3 items require leadership decision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37033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3703320"/>
            <a:ext cx="8229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8496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Aptos"/>
              </a:rPr>
              <a:t>D1  </a:t>
            </a:r>
            <a:r>
              <a:rPr sz="1300" b="1">
                <a:solidFill>
                  <a:srgbClr val="C00000"/>
                </a:solidFill>
                <a:latin typeface="Aptos"/>
              </a:rPr>
              <a:t>CRITICAL</a:t>
            </a:r>
            <a:r>
              <a:rPr sz="1300" b="1">
                <a:solidFill>
                  <a:srgbClr val="1C1C1C"/>
                </a:solidFill>
                <a:latin typeface="Aptos"/>
              </a:rPr>
              <a:t>   RESOLVE 57 BASELINE-LESS 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42702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Establish performance baselines for 57 projects immediately to enable risk tracking.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120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57 of 201 active projects (28%) lack defined baselines, blocking schedule and budget variance analysis. With 12 overdue items and 25.6% YTD spend already committed, baseline absence creates uncontrolled exposure of €9.2M.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5760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Portfolio Director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Feb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98863" y="37033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8863" y="3703320"/>
            <a:ext cx="8229600" cy="45720"/>
          </a:xfrm>
          <a:prstGeom prst="rect">
            <a:avLst/>
          </a:prstGeom>
          <a:solidFill>
            <a:srgbClr val="ED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7463" y="38496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D8B00"/>
                </a:solidFill>
                <a:latin typeface="Aptos"/>
              </a:rPr>
              <a:t>D2  </a:t>
            </a:r>
            <a:r>
              <a:rPr sz="1300" b="1">
                <a:solidFill>
                  <a:srgbClr val="ED8B00"/>
                </a:solidFill>
                <a:latin typeface="Aptos"/>
              </a:rPr>
              <a:t>HIGH</a:t>
            </a:r>
            <a:r>
              <a:rPr sz="1300" b="1">
                <a:solidFill>
                  <a:srgbClr val="1C1C1C"/>
                </a:solidFill>
                <a:latin typeface="Aptos"/>
              </a:rPr>
              <a:t>   ACCELERATE 21 PROJECTS &gt;20% BEHIND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3" y="42702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Execute recovery plans for 21 delayed projects to restore schedule confidence.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3" y="5120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21 projects exceed 20% schedule variance (10.4% of portfolio). Combined with 81% schedule health headline, mitigation required by Q1 2026 to prevent cascade delays into H2 2026.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3" y="5760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PMO Lead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Mar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" y="64465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9536" y="6446520"/>
            <a:ext cx="8229600" cy="45720"/>
          </a:xfrm>
          <a:prstGeom prst="rect">
            <a:avLst/>
          </a:prstGeom>
          <a:solidFill>
            <a:srgbClr val="007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65928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6A8"/>
                </a:solidFill>
                <a:latin typeface="Aptos"/>
              </a:rPr>
              <a:t>D3  </a:t>
            </a:r>
            <a:r>
              <a:rPr sz="1300" b="1">
                <a:solidFill>
                  <a:srgbClr val="0076A8"/>
                </a:solidFill>
                <a:latin typeface="Aptos"/>
              </a:rPr>
              <a:t>MEDIUM</a:t>
            </a:r>
            <a:r>
              <a:rPr sz="1300" b="1">
                <a:solidFill>
                  <a:srgbClr val="1C1C1C"/>
                </a:solidFill>
                <a:latin typeface="Aptos"/>
              </a:rPr>
              <a:t>   CLEAR 101 PENDING PROJECT APPROVALS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70134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Process and gate-qualify 101 pending initiatives to reduce portfolio bloat.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78638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101 pending items (50% of total portfolio) consume governance capacity without active execution. Clearing to 75 items by Q2 2026 improves strategic focus and resource allocation.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8503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Steering Committee Chair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Apr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3" y="6446520"/>
            <a:ext cx="8229600" cy="2514600"/>
          </a:xfrm>
          <a:prstGeom prst="rect">
            <a:avLst/>
          </a:prstGeom>
          <a:solidFill>
            <a:srgbClr val="F7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98863" y="6446520"/>
            <a:ext cx="8229600" cy="45720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27463" y="659282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5787B"/>
                </a:solidFill>
                <a:latin typeface="Aptos"/>
              </a:rPr>
              <a:t>D4  </a:t>
            </a:r>
            <a:r>
              <a:rPr sz="1300" b="1">
                <a:solidFill>
                  <a:srgbClr val="75787B"/>
                </a:solidFill>
                <a:latin typeface="Aptos"/>
              </a:rPr>
              <a:t>LOW</a:t>
            </a:r>
            <a:r>
              <a:rPr sz="1300" b="1">
                <a:solidFill>
                  <a:srgbClr val="1C1C1C"/>
                </a:solidFill>
                <a:latin typeface="Aptos"/>
              </a:rPr>
              <a:t>   FORECAST FULL-YEAR SPEND TO €39.4M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7463" y="70134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Aptos"/>
              </a:defRPr>
            </a:pPr>
            <a:r>
              <a:t>Validate budget trajectory and reforecast remaining €29.3M allocation.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3" y="78638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53565A"/>
                </a:solidFill>
                <a:latin typeface="Aptos"/>
              </a:defRPr>
            </a:pPr>
            <a:r>
              <a:t>€10.1M spent YTD against €39.4M total budget (25.6%). Confirm Q2-Q4 2026 spend profile to optimize cash flow and identify surplus reallocation opportunities.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3" y="8503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5787B"/>
                </a:solidFill>
                <a:latin typeface="Aptos"/>
              </a:rPr>
              <a:t>Owner: </a:t>
            </a:r>
            <a:r>
              <a:rPr sz="1100" b="0">
                <a:solidFill>
                  <a:srgbClr val="53565A"/>
                </a:solidFill>
                <a:latin typeface="Aptos"/>
              </a:rPr>
              <a:t>Finance Partner</a:t>
            </a:r>
            <a:r>
              <a:rPr sz="1100" b="1">
                <a:solidFill>
                  <a:srgbClr val="75787B"/>
                </a:solidFill>
                <a:latin typeface="Aptos"/>
              </a:rPr>
              <a:t>    Target: </a:t>
            </a:r>
            <a:r>
              <a:rPr sz="1100" b="0">
                <a:solidFill>
                  <a:srgbClr val="53565A"/>
                </a:solidFill>
                <a:latin typeface="Aptos"/>
              </a:rPr>
              <a:t>May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06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05 · PROJECTS AT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Projects at Risk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Top 5 by RAG severity · €9.2M total exposure across 12 flagged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59536" y="3749039"/>
          <a:ext cx="16568928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7772400"/>
                <a:gridCol w="2377440"/>
                <a:gridCol w="1828800"/>
                <a:gridCol w="2103120"/>
                <a:gridCol w="1298448"/>
              </a:tblGrid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RAG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Project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CY Budget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%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3D HRSG Scanning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Technical Services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Steam Turbine Major Inspection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Jan 2027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€4.5M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Steam Turbine Generator complete rewinding (stator and rotor)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€3.0M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TIL001121 Auto Tune System Installation at Thisvi Plant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€500k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Replacement of High Pressure (HP) and Hot Reheat (HRH) Steam turbine valves.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Feb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€360k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07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06 · KEY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Key Risks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Top portfolio risks, mitigations and owners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59536" y="3749039"/>
          <a:ext cx="16568928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5040"/>
                <a:gridCol w="1554480"/>
                <a:gridCol w="1737360"/>
                <a:gridCol w="4206240"/>
                <a:gridCol w="1828800"/>
                <a:gridCol w="1207008"/>
              </a:tblGrid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Risk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Severity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Mitigation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C1C1C"/>
                          </a:solidFill>
                          <a:latin typeface="Aptos"/>
                        </a:defRPr>
                      </a:pPr>
                      <a:r>
                        <a:t>Schedule Slippage Risk - 21 activities delayed &gt;20% with 81% schedule performance indicates accelerating delays. Portfolio at risk of missing Q2 2026 milestones.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Implement weekly schedule recovery reviews; allocate 2.5% contingency buffer (€985k) from total budget to critical path activities; resource reallocation from pending to delayed tasks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Schedule Manager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2026-04-30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C1C1C"/>
                          </a:solidFill>
                          <a:latin typeface="Aptos"/>
                        </a:defRPr>
                      </a:pPr>
                      <a:r>
                        <a:t>Budget Baseline Deficiency - 57 activities (28% of portfolio) lack approved baselines creating cost control blind spots. YTD spend at 25.6% (€10.1M) with incomplete variance tracking.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HIGH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Mandate baseline completion for all 57 activities by end February 2026; implement automated validation gates; conduct cost estimation workshop for high-exposure items (€9.2M exposure)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Cost Controller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2026-02-28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C1C1C"/>
                          </a:solidFill>
                          <a:latin typeface="Aptos"/>
                        </a:defRPr>
                      </a:pPr>
                      <a:r>
                        <a:t>Portfolio Health Deterioration - 12 overdue items, 12 RAG red-flagged activities, and 101 pending activities (50% of total) suggest execution capacity constraints and delivery risk.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CRITICAL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Escalate 12 RAG-red items to steering committee; resolve overdue activities within 10 days; conduct resource capacity analysis; consolidate pending workload; establish daily tracking for red items through Q2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Portfolio Director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2026-03-31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" y="4389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22222"/>
                </a:solidFill>
                <a:latin typeface="Aptos"/>
              </a:rPr>
              <a:t>Portfolio IQ</a:t>
            </a:r>
            <a:r>
              <a:rPr sz="17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2606040" y="475488"/>
            <a:ext cx="10972" cy="219456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AI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92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87B"/>
                </a:solidFill>
                <a:latin typeface="Aptos"/>
              </a:defRPr>
            </a:pPr>
            <a:r>
              <a:t>DELOITTE  ×  ENERWAVE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59" y="9646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5787B"/>
                </a:solidFill>
                <a:latin typeface="Aptos"/>
              </a:defRPr>
            </a:pPr>
            <a:r>
              <a:t>08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280160"/>
            <a:ext cx="1655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890D"/>
                </a:solidFill>
                <a:latin typeface="Aptos"/>
              </a:defRPr>
            </a:pPr>
            <a:r>
              <a:t>APPENDIX A.1 · RED / AMBER PROJECTS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1664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22222"/>
                </a:solidFill>
                <a:latin typeface="Aptos"/>
              </a:rPr>
              <a:t>Flagged Projects</a:t>
            </a:r>
            <a:r>
              <a:rPr sz="4400" b="1">
                <a:solidFill>
                  <a:srgbClr val="86BC25"/>
                </a:solidFill>
                <a:latin typeface="Apto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92608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3565A"/>
                </a:solidFill>
                <a:latin typeface="Aptos"/>
              </a:defRPr>
            </a:pPr>
            <a:r>
              <a:t>All 12 Red / Amber projects this period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59536" y="3657600"/>
          <a:ext cx="16568928" cy="554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1554480"/>
                <a:gridCol w="6858000"/>
                <a:gridCol w="2286000"/>
                <a:gridCol w="1737360"/>
                <a:gridCol w="1828800"/>
                <a:gridCol w="1298448"/>
              </a:tblGrid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RAG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Code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Project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Owner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Go-live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Budget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86BC25"/>
                          </a:solidFill>
                          <a:latin typeface="Aptos"/>
                        </a:defRPr>
                      </a:pPr>
                      <a:r>
                        <a:t>%</a:t>
                      </a:r>
                    </a:p>
                  </a:txBody>
                  <a:tcPr anchor="ctr" marL="109728" marT="36576" marB="36576">
                    <a:solidFill>
                      <a:srgbClr val="1C3D2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C00000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2025-00159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3D HRSG Scanning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Technical Services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2025-00127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Steam Turbine Major Inspection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Jan 2027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€4.5M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2025-00128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Steam Turbine Generator complete rewinding (stator and rotor)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€3.0M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2025-00164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TIL001121 Auto Tune System Installation at Thisvi Plant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€500k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2025-00188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Replacement of High Pressure (HP) and Hot Reheat (HRH) Steam turbine valves.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Feb 2026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€360k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2025-00067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DERMS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ENMA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€265k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2025-00144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 Hydraulic Pumps Replacement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€168k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2025-00113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HRSG HRH Vent stop valve replacement &amp; part of pipeline replacement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€115k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10%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Fuel Gas AGI Flow computer and flow meters replacement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€110k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80%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2025-00157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Evaporative Cooling Tower (ECT) supply &amp; installation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Dec 2025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€60k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5%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2025-00116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ST Lube oil mist eliminator upgrade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Thessaloniki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€57k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70%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ED8B00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2025-00156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Addition of oil moisture analyser in GT &amp; ST lube oil tanks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Thisvi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€30k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53565A"/>
                          </a:solidFill>
                          <a:latin typeface="Aptos"/>
                        </a:defRPr>
                      </a:pPr>
                      <a:r>
                        <a:t>20%</a:t>
                      </a:r>
                    </a:p>
                  </a:txBody>
                  <a:tcPr anchor="ctr" marL="109728" marT="27432" marB="27432">
                    <a:solidFill>
                      <a:srgbClr val="F7F9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