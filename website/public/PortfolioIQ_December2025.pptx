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6BC25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91840"/>
            <a:ext cx="1554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Aptos"/>
              </a:rPr>
              <a:t>Project Portfolio</a:t>
            </a:r>
            <a:r>
              <a:rPr sz="60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86BC25"/>
                </a:solidFill>
                <a:latin typeface="Aptos"/>
              </a:defRPr>
            </a:pPr>
            <a:r>
              <a:t>Executive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6692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Reporting period · December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886968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AI-GENERATED EXECUTIVE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9235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ptos"/>
              </a:defRPr>
            </a:pPr>
            <a:r>
              <a:t>Written, designed and self-reviewed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01 · PORTFOLIO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Portfolio Snapshot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96 active projects · 10 flagged · €0.9M exposure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566160"/>
            <a:ext cx="3310128" cy="169164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3566160"/>
            <a:ext cx="3310128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767328"/>
            <a:ext cx="312724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0" b="1">
                <a:solidFill>
                  <a:srgbClr val="00B050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52628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C1C"/>
                </a:solidFill>
                <a:latin typeface="Aptos"/>
              </a:defRPr>
            </a:pPr>
            <a:r>
              <a:t>Total 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82803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75787B"/>
                </a:solidFill>
                <a:latin typeface="Aptos"/>
              </a:defRPr>
            </a:pPr>
            <a:r>
              <a:t>96 active · 105 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3566160"/>
            <a:ext cx="3310128" cy="169164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3566160"/>
            <a:ext cx="3310128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5" y="3767328"/>
            <a:ext cx="312724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0" b="1">
                <a:solidFill>
                  <a:srgbClr val="00B05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5" y="452628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C1C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5" y="482803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75787B"/>
                </a:solidFill>
                <a:latin typeface="Aptos"/>
              </a:defRPr>
            </a:pPr>
            <a:r>
              <a:t>lifetime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566160"/>
            <a:ext cx="3310128" cy="169164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17536" y="3566160"/>
            <a:ext cx="3310128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8975" y="3767328"/>
            <a:ext cx="312724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0" b="1">
                <a:solidFill>
                  <a:srgbClr val="C0000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452628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C1C"/>
                </a:solidFill>
                <a:latin typeface="Aptos"/>
              </a:defRPr>
            </a:pPr>
            <a:r>
              <a:t>Overdue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482803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75787B"/>
                </a:solidFill>
                <a:latin typeface="Aptos"/>
              </a:defRPr>
            </a:pPr>
            <a:r>
              <a:t>4% of 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46536" y="3566160"/>
            <a:ext cx="3310128" cy="169164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46536" y="3566160"/>
            <a:ext cx="3310128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37976" y="3767328"/>
            <a:ext cx="312724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0" b="1">
                <a:solidFill>
                  <a:srgbClr val="00B050"/>
                </a:solidFill>
                <a:latin typeface="Aptos"/>
              </a:defRPr>
            </a:pPr>
            <a:r>
              <a:t>€39.4M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7976" y="452628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C1C"/>
                </a:solidFill>
                <a:latin typeface="Aptos"/>
              </a:defRPr>
            </a:pPr>
            <a:r>
              <a:t>Committed 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7976" y="482803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75787B"/>
                </a:solidFill>
                <a:latin typeface="Aptos"/>
              </a:defRPr>
            </a:pPr>
            <a:r>
              <a:t>€18.0M active · €21.4M pending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75536" y="3566160"/>
            <a:ext cx="3310128" cy="169164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575536" y="3566160"/>
            <a:ext cx="3310128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66976" y="3767328"/>
            <a:ext cx="312724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0" b="1">
                <a:solidFill>
                  <a:srgbClr val="ED8B00"/>
                </a:solidFill>
                <a:latin typeface="Aptos"/>
              </a:defRPr>
            </a:pPr>
            <a:r>
              <a:t>3.3%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66976" y="452628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C1C"/>
                </a:solidFill>
                <a:latin typeface="Aptos"/>
              </a:defRPr>
            </a:pPr>
            <a:r>
              <a:t>YTD Spend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66976" y="482803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75787B"/>
                </a:solidFill>
                <a:latin typeface="Aptos"/>
              </a:defRPr>
            </a:pPr>
            <a:r>
              <a:t>€1.3M of €39.4M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" y="5577840"/>
            <a:ext cx="8229600" cy="27432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9536" y="5577840"/>
            <a:ext cx="8229600" cy="45720"/>
          </a:xfrm>
          <a:prstGeom prst="rect">
            <a:avLst/>
          </a:prstGeom>
          <a:solidFill>
            <a:srgbClr val="ED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574243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890D"/>
                </a:solidFill>
                <a:latin typeface="Aptos"/>
              </a:defRPr>
            </a:pPr>
            <a:r>
              <a:t>SCHEDULE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617220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050"/>
                </a:solidFill>
                <a:latin typeface="Aptos"/>
              </a:rPr>
              <a:t>  16  </a:t>
            </a:r>
            <a:r>
              <a:rPr sz="1500" b="0">
                <a:solidFill>
                  <a:srgbClr val="53565A"/>
                </a:solidFill>
                <a:latin typeface="Aptos"/>
              </a:rPr>
              <a:t>On Track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D8B00"/>
                </a:solidFill>
                <a:latin typeface="Aptos"/>
              </a:rPr>
              <a:t>   1  </a:t>
            </a:r>
            <a:r>
              <a:rPr sz="1500" b="0">
                <a:solidFill>
                  <a:srgbClr val="53565A"/>
                </a:solidFill>
                <a:latin typeface="Aptos"/>
              </a:rPr>
              <a:t>Delayed ≤20%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00000"/>
                </a:solidFill>
                <a:latin typeface="Aptos"/>
              </a:rPr>
              <a:t>  21  </a:t>
            </a:r>
            <a:r>
              <a:rPr sz="1500" b="0">
                <a:solidFill>
                  <a:srgbClr val="53565A"/>
                </a:solidFill>
                <a:latin typeface="Aptos"/>
              </a:rPr>
              <a:t>Delayed &gt;20%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999999"/>
                </a:solidFill>
                <a:latin typeface="Aptos"/>
              </a:rPr>
              <a:t>  58  </a:t>
            </a:r>
            <a:r>
              <a:rPr sz="1500" b="0">
                <a:solidFill>
                  <a:srgbClr val="53565A"/>
                </a:solidFill>
                <a:latin typeface="Aptos"/>
              </a:rPr>
              <a:t>No Baseline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3728" y="5577840"/>
            <a:ext cx="8174736" cy="27432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53728" y="5577840"/>
            <a:ext cx="8174736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4896" y="57424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890D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54896" y="61722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3565A"/>
                </a:solidFill>
                <a:latin typeface="Aptos"/>
              </a:defRPr>
            </a:pPr>
            <a:r>
              <a:t>Portfolio tracking shows operational maturity with execution gaps requiring immediate intervention.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3565A"/>
                </a:solidFill>
                <a:latin typeface="Aptos"/>
              </a:defRPr>
            </a:pPr>
            <a:r>
              <a:t>Of 201 total initiatives, 96 are active with 105 pending and concerning 4 overdue items. Budget utilization stands at 3.3% YTD against €39.4M allocation, while 10 RAG-flagged items and 21 initiatives delayed &gt;20% indicate scheduling and delivery risks. Critical gaps: 58 initiatives lack defined baselines and 83% schedule adherence masks underlying delays.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3565A"/>
                </a:solidFill>
                <a:latin typeface="Aptos"/>
              </a:defRPr>
            </a:pPr>
            <a:r>
              <a:t>Immediate action required: (1) Establish baselines for all 58 baseline-deficient initiatives within 10 days to enable proper tracking; (2) Conduct root-cause analysis on 21 delayed-&gt;20% items and 10 RED/AMBER initiatives to unblock delivery; (3) Accelerate pending-to-active transition of 105 items—current 48% pending rate suggests planning-execution misalignment and cash deployment risk against €39.4M budget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02 · DEEP DIVE: SCHEDULE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Schedule Health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Schedule distribution across 96 active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On 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4176" y="3858768"/>
            <a:ext cx="10058400" cy="4572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94176" y="3858768"/>
            <a:ext cx="1676400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35455" y="384048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Delayed ≤20%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4176" y="4910327"/>
            <a:ext cx="10058400" cy="4572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4176" y="4910327"/>
            <a:ext cx="137160" cy="457200"/>
          </a:xfrm>
          <a:prstGeom prst="rect">
            <a:avLst/>
          </a:prstGeom>
          <a:solidFill>
            <a:srgbClr val="ED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35455" y="489204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Delayed &gt;20%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4176" y="5961888"/>
            <a:ext cx="10058400" cy="4572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94176" y="5961888"/>
            <a:ext cx="2200275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35455" y="594360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6995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No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4176" y="7013448"/>
            <a:ext cx="10058400" cy="4572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94176" y="7013448"/>
            <a:ext cx="6076950" cy="4572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35455" y="699516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356080" y="3840480"/>
            <a:ext cx="3072384" cy="42976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356080" y="3840480"/>
            <a:ext cx="3072384" cy="45720"/>
          </a:xfrm>
          <a:prstGeom prst="rect">
            <a:avLst/>
          </a:prstGeom>
          <a:solidFill>
            <a:srgbClr val="ED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57248" y="40233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BC25"/>
                </a:solidFill>
                <a:latin typeface="Aptos"/>
              </a:defRPr>
            </a:pPr>
            <a:r>
              <a:t>KEY SCHEDULE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57248" y="44805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250" b="0">
                <a:solidFill>
                  <a:srgbClr val="FFFFFF"/>
                </a:solidFill>
                <a:latin typeface="Aptos"/>
              </a:defRPr>
            </a:pPr>
            <a:r>
              <a:t>— 105 pending tasks (52% of total 201) risk further schedule delays; 21 tasks already delayed &gt;20% against baseline</a:t>
            </a:r>
          </a:p>
          <a:p>
            <a:pPr algn="l">
              <a:spcAft>
                <a:spcPts val="1000"/>
              </a:spcAft>
              <a:defRPr sz="1250" b="0">
                <a:solidFill>
                  <a:srgbClr val="FFFFFF"/>
                </a:solidFill>
                <a:latin typeface="Aptos"/>
              </a:defRPr>
            </a:pPr>
            <a:r>
              <a:t>— 58 tasks (29%) lack schedule baseline; exposure of €0.9M against €39.4M budget creates planning uncertainty</a:t>
            </a:r>
          </a:p>
          <a:p>
            <a:pPr algn="l">
              <a:spcAft>
                <a:spcPts val="1000"/>
              </a:spcAft>
              <a:defRPr sz="1250" b="0">
                <a:solidFill>
                  <a:srgbClr val="FFFFFF"/>
                </a:solidFill>
                <a:latin typeface="Aptos"/>
              </a:defRPr>
            </a:pPr>
            <a:r>
              <a:t>— 4 overdue tasks with 83% schedule headline completion indicates execution risk in critical path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03 · DEEP DIVE: BUDGET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Budget Health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FY budget distribution by category · €39.4M committed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C"/>
                </a:solidFill>
                <a:latin typeface="Aptos"/>
              </a:defRPr>
            </a:pPr>
            <a:r>
              <a:t>Long Term Maintenance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77056" y="3858768"/>
            <a:ext cx="8229600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89536" y="384048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€21.5M  ·  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C"/>
                </a:solidFill>
                <a:latin typeface="Aptos"/>
              </a:defRPr>
            </a:pPr>
            <a:r>
              <a:t>Financial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7056" y="4910327"/>
            <a:ext cx="5181600" cy="457200"/>
          </a:xfrm>
          <a:prstGeom prst="rect">
            <a:avLst/>
          </a:prstGeom>
          <a:solidFill>
            <a:srgbClr val="5A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1535" y="48920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€13.4M  ·  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943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C"/>
                </a:solidFill>
                <a:latin typeface="Aptos"/>
              </a:defRPr>
            </a:pPr>
            <a:r>
              <a:t>Betterment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7056" y="5961888"/>
            <a:ext cx="1524000" cy="457200"/>
          </a:xfrm>
          <a:prstGeom prst="rect">
            <a:avLst/>
          </a:prstGeom>
          <a:solidFill>
            <a:srgbClr val="ED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3936" y="5943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€3.9M  · 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6995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C"/>
                </a:solidFill>
                <a:latin typeface="Aptos"/>
              </a:defRPr>
            </a:pPr>
            <a:r>
              <a:t>Safety / Regulatory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77056" y="7013448"/>
            <a:ext cx="304800" cy="457200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4736" y="69951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  <a:latin typeface="Aptos"/>
              </a:defRPr>
            </a:pPr>
            <a:r>
              <a:t>€0.7M  ·  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61520" y="3840480"/>
            <a:ext cx="5266944" cy="429768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161520" y="3840480"/>
            <a:ext cx="5266944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62688" y="4023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890D"/>
                </a:solidFill>
                <a:latin typeface="Aptos"/>
              </a:defRPr>
            </a:pPr>
            <a:r>
              <a:t>BUDGET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62688" y="452628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1C1C1C"/>
                </a:solidFill>
                <a:latin typeface="Aptos"/>
              </a:rPr>
              <a:t>191 projects within budget</a:t>
            </a:r>
            <a:r>
              <a:rPr sz="1250" b="0">
                <a:solidFill>
                  <a:srgbClr val="53565A"/>
                </a:solidFill>
                <a:latin typeface="Aptos"/>
              </a:rPr>
              <a:t> out of 201 total—strong cost control with only 10 RAG-flagged items at €0.9M exposure.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1C1C1C"/>
                </a:solidFill>
                <a:latin typeface="Aptos"/>
              </a:rPr>
              <a:t>Overrun risk: MEDIUM</a:t>
            </a:r>
            <a:r>
              <a:rPr sz="1250" b="0">
                <a:solidFill>
                  <a:srgbClr val="53565A"/>
                </a:solidFill>
                <a:latin typeface="Aptos"/>
              </a:rPr>
              <a:t> with 4 overdue projects and 21 delayed &gt;20%, requiring immediate schedule intervention to prevent budget drift.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1C1C1C"/>
                </a:solidFill>
                <a:latin typeface="Aptos"/>
              </a:rPr>
              <a:t>Exposure headroom: €38.5M available</a:t>
            </a:r>
            <a:r>
              <a:rPr sz="1250" b="0">
                <a:solidFill>
                  <a:srgbClr val="53565A"/>
                </a:solidFill>
                <a:latin typeface="Aptos"/>
              </a:rPr>
              <a:t> against €39.4M total budget; YTD spend at 3.3% indicates early-stage execution with 58 projects lacking baselines.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1C1C1C"/>
                </a:solidFill>
                <a:latin typeface="Aptos"/>
              </a:rPr>
              <a:t>Long Term Maintenance dominates at €21.5M (54%)</a:t>
            </a:r>
            <a:r>
              <a:rPr sz="1250" b="0">
                <a:solidFill>
                  <a:srgbClr val="53565A"/>
                </a:solidFill>
                <a:latin typeface="Aptos"/>
              </a:rPr>
              <a:t> followed by Financial Performance €13.4M (34%), positioning portfolio toward operational resilience over innovation.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04 · LEADERSHIP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Leadership Decisions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3 items require leadership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703320"/>
            <a:ext cx="8229600" cy="25146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3703320"/>
            <a:ext cx="8229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8496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Aptos"/>
              </a:rPr>
              <a:t>D1  </a:t>
            </a:r>
            <a:r>
              <a:rPr sz="1300" b="1">
                <a:solidFill>
                  <a:srgbClr val="C00000"/>
                </a:solidFill>
                <a:latin typeface="Aptos"/>
              </a:rPr>
              <a:t>CRITICAL</a:t>
            </a:r>
            <a:r>
              <a:rPr sz="1300" b="1">
                <a:solidFill>
                  <a:srgbClr val="1C1C1C"/>
                </a:solidFill>
                <a:latin typeface="Aptos"/>
              </a:rPr>
              <a:t>   RESOLVE 105 PENDING INITIATIVES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427024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Aptos"/>
              </a:defRPr>
            </a:pPr>
            <a:r>
              <a:t>Activate decision gates on 105 pending initiatives to unblock 52% of portfolio.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5120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3565A"/>
                </a:solidFill>
                <a:latin typeface="Aptos"/>
              </a:defRPr>
            </a:pPr>
            <a:r>
              <a:t>105 pending items (52% of 201 total) lack approval. Without resolution by Jan 2026, €39.4M budget allocation remains undefined and 58 initiatives have no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5760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5787B"/>
                </a:solidFill>
                <a:latin typeface="Aptos"/>
              </a:rPr>
              <a:t>Owner: </a:t>
            </a:r>
            <a:r>
              <a:rPr sz="1100" b="0">
                <a:solidFill>
                  <a:srgbClr val="53565A"/>
                </a:solidFill>
                <a:latin typeface="Aptos"/>
              </a:rPr>
              <a:t>Chief Portfolio Officer</a:t>
            </a:r>
            <a:r>
              <a:rPr sz="1100" b="1">
                <a:solidFill>
                  <a:srgbClr val="75787B"/>
                </a:solidFill>
                <a:latin typeface="Aptos"/>
              </a:rPr>
              <a:t>    Target: </a:t>
            </a:r>
            <a:r>
              <a:rPr sz="1100" b="0">
                <a:solidFill>
                  <a:srgbClr val="53565A"/>
                </a:solidFill>
                <a:latin typeface="Aptos"/>
              </a:rPr>
              <a:t>Jan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3" y="3703320"/>
            <a:ext cx="8229600" cy="25146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8863" y="3703320"/>
            <a:ext cx="8229600" cy="45720"/>
          </a:xfrm>
          <a:prstGeom prst="rect">
            <a:avLst/>
          </a:prstGeom>
          <a:solidFill>
            <a:srgbClr val="ED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7463" y="38496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D8B00"/>
                </a:solidFill>
                <a:latin typeface="Aptos"/>
              </a:rPr>
              <a:t>D2  </a:t>
            </a:r>
            <a:r>
              <a:rPr sz="1300" b="1">
                <a:solidFill>
                  <a:srgbClr val="ED8B00"/>
                </a:solidFill>
                <a:latin typeface="Aptos"/>
              </a:rPr>
              <a:t>HIGH</a:t>
            </a:r>
            <a:r>
              <a:rPr sz="1300" b="1">
                <a:solidFill>
                  <a:srgbClr val="1C1C1C"/>
                </a:solidFill>
                <a:latin typeface="Aptos"/>
              </a:rPr>
              <a:t>   ADDRESS 21 DELAYED INITIATIVES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3" y="427024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Aptos"/>
              </a:defRPr>
            </a:pPr>
            <a:r>
              <a:t>Conduct recovery review on 21 initiatives delayed &gt;20% to prevent schedule collapse.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3" y="5120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3565A"/>
                </a:solidFill>
                <a:latin typeface="Aptos"/>
              </a:defRPr>
            </a:pPr>
            <a:r>
              <a:t>21 initiatives (10.4% of active portfolio) exceed 20% schedule variance. Combined with 83% headline schedule health, corrective action must launch by Dec 2025 to prevent Q1 2026 cascade failures.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3" y="5760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5787B"/>
                </a:solidFill>
                <a:latin typeface="Aptos"/>
              </a:rPr>
              <a:t>Owner: </a:t>
            </a:r>
            <a:r>
              <a:rPr sz="1100" b="0">
                <a:solidFill>
                  <a:srgbClr val="53565A"/>
                </a:solidFill>
                <a:latin typeface="Aptos"/>
              </a:rPr>
              <a:t>Program Management Director</a:t>
            </a:r>
            <a:r>
              <a:rPr sz="1100" b="1">
                <a:solidFill>
                  <a:srgbClr val="75787B"/>
                </a:solidFill>
                <a:latin typeface="Aptos"/>
              </a:rPr>
              <a:t>    Target: </a:t>
            </a:r>
            <a:r>
              <a:rPr sz="1100" b="0">
                <a:solidFill>
                  <a:srgbClr val="53565A"/>
                </a:solidFill>
                <a:latin typeface="Aptos"/>
              </a:rPr>
              <a:t>Dec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" y="6446520"/>
            <a:ext cx="8229600" cy="25146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" y="6446520"/>
            <a:ext cx="8229600" cy="45720"/>
          </a:xfrm>
          <a:prstGeom prst="rect">
            <a:avLst/>
          </a:prstGeom>
          <a:solidFill>
            <a:srgbClr val="00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65928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6A8"/>
                </a:solidFill>
                <a:latin typeface="Aptos"/>
              </a:rPr>
              <a:t>D3  </a:t>
            </a:r>
            <a:r>
              <a:rPr sz="1300" b="1">
                <a:solidFill>
                  <a:srgbClr val="0076A8"/>
                </a:solidFill>
                <a:latin typeface="Aptos"/>
              </a:rPr>
              <a:t>MEDIUM</a:t>
            </a:r>
            <a:r>
              <a:rPr sz="1300" b="1">
                <a:solidFill>
                  <a:srgbClr val="1C1C1C"/>
                </a:solidFill>
                <a:latin typeface="Aptos"/>
              </a:rPr>
              <a:t>   ESTABLISH BASELINES FOR 58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701344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Aptos"/>
              </a:defRPr>
            </a:pPr>
            <a:r>
              <a:t>Assign technical baselines to 58 initiatives before Feb 2026 planning cycle.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7863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3565A"/>
                </a:solidFill>
                <a:latin typeface="Aptos"/>
              </a:defRPr>
            </a:pPr>
            <a:r>
              <a:t>58 initiatives (29% of portfolio) operate without baseline cost/schedule anchors. YTD spend is only 3.3% of €39.4M budget; baseline gaps prevent proper forecast accuracy and variance trending.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8503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5787B"/>
                </a:solidFill>
                <a:latin typeface="Aptos"/>
              </a:rPr>
              <a:t>Owner: </a:t>
            </a:r>
            <a:r>
              <a:rPr sz="1100" b="0">
                <a:solidFill>
                  <a:srgbClr val="53565A"/>
                </a:solidFill>
                <a:latin typeface="Aptos"/>
              </a:rPr>
              <a:t>Portfolio Controls Manager</a:t>
            </a:r>
            <a:r>
              <a:rPr sz="1100" b="1">
                <a:solidFill>
                  <a:srgbClr val="75787B"/>
                </a:solidFill>
                <a:latin typeface="Aptos"/>
              </a:rPr>
              <a:t>    Target: </a:t>
            </a:r>
            <a:r>
              <a:rPr sz="1100" b="0">
                <a:solidFill>
                  <a:srgbClr val="53565A"/>
                </a:solidFill>
                <a:latin typeface="Aptos"/>
              </a:rPr>
              <a:t>Feb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3" y="6446520"/>
            <a:ext cx="8229600" cy="2514600"/>
          </a:xfrm>
          <a:prstGeom prst="rect">
            <a:avLst/>
          </a:prstGeom>
          <a:solidFill>
            <a:srgbClr val="F7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98863" y="6446520"/>
            <a:ext cx="8229600" cy="45720"/>
          </a:xfrm>
          <a:prstGeom prst="rect">
            <a:avLst/>
          </a:prstGeom>
          <a:solidFill>
            <a:srgbClr val="757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3" y="65928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5787B"/>
                </a:solidFill>
                <a:latin typeface="Aptos"/>
              </a:rPr>
              <a:t>D4  </a:t>
            </a:r>
            <a:r>
              <a:rPr sz="1300" b="1">
                <a:solidFill>
                  <a:srgbClr val="75787B"/>
                </a:solidFill>
                <a:latin typeface="Aptos"/>
              </a:rPr>
              <a:t>LOW</a:t>
            </a:r>
            <a:r>
              <a:rPr sz="1300" b="1">
                <a:solidFill>
                  <a:srgbClr val="1C1C1C"/>
                </a:solidFill>
                <a:latin typeface="Aptos"/>
              </a:rPr>
              <a:t>   CLEAR 4 OVERDUE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3" y="701344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Aptos"/>
              </a:defRPr>
            </a:pPr>
            <a:r>
              <a:t>Close or reschedule 4 overdue initiatives to improve portfolio health score.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3" y="7863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3565A"/>
                </a:solidFill>
                <a:latin typeface="Aptos"/>
              </a:defRPr>
            </a:pPr>
            <a:r>
              <a:t>4 overdue items represent 4% of active work. While low volume, they signal execution discipline. Target completion by Mar 2026 to achieve 95%+ on-time delivery 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3" y="8503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5787B"/>
                </a:solidFill>
                <a:latin typeface="Aptos"/>
              </a:rPr>
              <a:t>Owner: </a:t>
            </a:r>
            <a:r>
              <a:rPr sz="1100" b="0">
                <a:solidFill>
                  <a:srgbClr val="53565A"/>
                </a:solidFill>
                <a:latin typeface="Aptos"/>
              </a:rPr>
              <a:t>Delivery Lead</a:t>
            </a:r>
            <a:r>
              <a:rPr sz="1100" b="1">
                <a:solidFill>
                  <a:srgbClr val="75787B"/>
                </a:solidFill>
                <a:latin typeface="Aptos"/>
              </a:rPr>
              <a:t>    Target: </a:t>
            </a:r>
            <a:r>
              <a:rPr sz="1100" b="0">
                <a:solidFill>
                  <a:srgbClr val="53565A"/>
                </a:solidFill>
                <a:latin typeface="Aptos"/>
              </a:rPr>
              <a:t>Mar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05 · PROJECTS AT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Projects at Risk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Top 5 by RAG severity · €0.9M total exposure across 10 flagged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59536" y="3749039"/>
          <a:ext cx="16568928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7772400"/>
                <a:gridCol w="2377440"/>
                <a:gridCol w="1828800"/>
                <a:gridCol w="2103120"/>
                <a:gridCol w="1298448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RAG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Project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CY Budget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ST Hydraulic Pumps Replacement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Thisvi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€168k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myElpedison Redesign/Relauch Phase 1 (MVP) Design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Commercial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Dec 2025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Strategic spare parts  (pending GT turning gear, GT and ST Gen VT/CT)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Sep 2024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95%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Replacement of High Pressure (HP) and Hot Reheat (HRH) Steam turbine valves.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Feb 2026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€360k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HRSG HRH Vent stop valve replacement &amp; part of pipeline replacement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€115k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06 · KEY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Key Risks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Top portfolio risks, mitigations and owners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59536" y="3749039"/>
          <a:ext cx="16568928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035040"/>
                <a:gridCol w="1554480"/>
                <a:gridCol w="1737360"/>
                <a:gridCol w="4206240"/>
                <a:gridCol w="1828800"/>
                <a:gridCol w="1207008"/>
              </a:tblGrid>
              <a:tr h="9144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Severity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t>High count of activities with no baseline (58 items) creates schedule and budget visibility gaps, increasing risk of cost overruns and timeline slippage across 96 active projects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Establish baselines for all 58 unbaselined activities through structured planning workshops; implement mandatory baseline review gate for project initiation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Program Controls Manager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2025-02-28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t>21 activities delayed by &gt;20% indicates systemic scheduling pressure; 105 pending items may cascade delays affecting portfolio completion by Q4 2025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Conduct critical path analysis on delayed activities; reallocate resources to high-impact pending items; implement weekly schedule recovery meetings for Q1 2025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Schedule Lead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2025-03-31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C1C1C"/>
                          </a:solidFill>
                          <a:latin typeface="Aptos"/>
                        </a:defRPr>
                      </a:pPr>
                      <a:r>
                        <a:t>Portfolio margin only 0.9€M against 39.4€M budget (2.3% cushion) with 4 overdue items and 10 RAG-flagged activities creates vulnerability to scope changes or contingencies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Freeze non-critical scope; accelerate completion of overdue/RAG items; establish 5% contingency reserve (1.97€M) by pausing 3 lowest-priority pending initiatives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Portfolio Budget Controller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2025-01-31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" y="438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  <a:latin typeface="Aptos"/>
              </a:rPr>
              <a:t>Portfolio IQ</a:t>
            </a:r>
            <a:r>
              <a:rPr sz="17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475488"/>
            <a:ext cx="10972" cy="2194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475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AI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87B"/>
                </a:solidFill>
                <a:latin typeface="Aptos"/>
              </a:defRPr>
            </a:pPr>
            <a:r>
              <a:t>DELOITTE  ×  ENERWAVE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67759" y="9646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87B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655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890D"/>
                </a:solidFill>
                <a:latin typeface="Aptos"/>
              </a:defRPr>
            </a:pPr>
            <a:r>
              <a:t>APPENDIX A.1 · RED / AMBER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1664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2222"/>
                </a:solidFill>
                <a:latin typeface="Aptos"/>
              </a:rPr>
              <a:t>Flagged Projects</a:t>
            </a:r>
            <a:r>
              <a:rPr sz="4400" b="1">
                <a:solidFill>
                  <a:srgbClr val="86BC2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2608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565A"/>
                </a:solidFill>
                <a:latin typeface="Aptos"/>
              </a:defRPr>
            </a:pPr>
            <a:r>
              <a:t>All 10 Red / Amber projects this period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59536" y="3657600"/>
          <a:ext cx="16568928" cy="5532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554480"/>
                <a:gridCol w="6858000"/>
                <a:gridCol w="2286000"/>
                <a:gridCol w="1737360"/>
                <a:gridCol w="1828800"/>
                <a:gridCol w="1298448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RAG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Code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Project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Go-live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Budget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6BC25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 anchor="ctr" marL="109728" marT="36576" marB="36576">
                    <a:solidFill>
                      <a:srgbClr val="1C3D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2025-00144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ST Hydraulic Pumps Replacement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Thisvi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€168k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2025-00040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myElpedison Redesign/Relauch Phase 1 (MVP) Design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Commercial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Dec 2025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00000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2025-00095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Strategic spare parts  (pending GT turning gear, GT and ST Gen VT/CT)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Sep 2024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95%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2025-00188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Replacement of High Pressure (HP) and Hot Reheat (HRH) Steam turbine valves.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Feb 2026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€360k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2025-00113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HRSG HRH Vent stop valve replacement &amp; part of pipeline replacement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€115k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2025-00118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Fuel Gas AGI Flow computer and flow meters replacement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€110k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80%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2025-00157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Evaporative Cooling Tower (ECT) supply &amp; installation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Thisvi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Dec 2025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€60k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2025-00116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ST Lube oil mist eliminator upgrade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€57k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70%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2025-00156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Addition of oil moisture analyser in GT &amp; ST lube oil tanks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Thisvi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€30k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D8B00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2025-00117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Desuperheaters replacement (HP intermediate and HRH Final)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Thessaloniki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3565A"/>
                          </a:solidFill>
                          <a:latin typeface="Aptos"/>
                        </a:defRPr>
                      </a:pPr>
                      <a:r>
                        <a:t>90%</a:t>
                      </a:r>
                    </a:p>
                  </a:txBody>
                  <a:tcPr anchor="ctr" marL="109728" marT="27432" marB="27432">
                    <a:solidFill>
                      <a:srgbClr val="F7F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